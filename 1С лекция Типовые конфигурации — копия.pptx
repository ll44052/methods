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455" r:id="rId3"/>
    <p:sldId id="456" r:id="rId4"/>
    <p:sldId id="257" r:id="rId5"/>
    <p:sldId id="264" r:id="rId6"/>
    <p:sldId id="265" r:id="rId7"/>
    <p:sldId id="269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83" r:id="rId16"/>
    <p:sldId id="289" r:id="rId17"/>
    <p:sldId id="309" r:id="rId18"/>
    <p:sldId id="291" r:id="rId19"/>
    <p:sldId id="293" r:id="rId20"/>
    <p:sldId id="296" r:id="rId21"/>
    <p:sldId id="297" r:id="rId22"/>
    <p:sldId id="457" r:id="rId23"/>
    <p:sldId id="303" r:id="rId24"/>
    <p:sldId id="305" r:id="rId25"/>
    <p:sldId id="307" r:id="rId26"/>
    <p:sldId id="295" r:id="rId27"/>
    <p:sldId id="301" r:id="rId28"/>
    <p:sldId id="308" r:id="rId29"/>
    <p:sldId id="311" r:id="rId30"/>
    <p:sldId id="313" r:id="rId31"/>
    <p:sldId id="314" r:id="rId32"/>
    <p:sldId id="315" r:id="rId33"/>
    <p:sldId id="316" r:id="rId34"/>
    <p:sldId id="319" r:id="rId35"/>
    <p:sldId id="320" r:id="rId36"/>
    <p:sldId id="321" r:id="rId37"/>
    <p:sldId id="322" r:id="rId38"/>
    <p:sldId id="324" r:id="rId39"/>
    <p:sldId id="323" r:id="rId40"/>
    <p:sldId id="325" r:id="rId41"/>
    <p:sldId id="326" r:id="rId42"/>
    <p:sldId id="327" r:id="rId43"/>
    <p:sldId id="330" r:id="rId44"/>
    <p:sldId id="332" r:id="rId45"/>
    <p:sldId id="333" r:id="rId46"/>
    <p:sldId id="335" r:id="rId47"/>
    <p:sldId id="336" r:id="rId48"/>
    <p:sldId id="362" r:id="rId49"/>
    <p:sldId id="361" r:id="rId50"/>
    <p:sldId id="363" r:id="rId51"/>
    <p:sldId id="337" r:id="rId52"/>
    <p:sldId id="365" r:id="rId53"/>
    <p:sldId id="338" r:id="rId54"/>
    <p:sldId id="366" r:id="rId55"/>
    <p:sldId id="369" r:id="rId56"/>
    <p:sldId id="370" r:id="rId57"/>
    <p:sldId id="446" r:id="rId58"/>
    <p:sldId id="372" r:id="rId59"/>
    <p:sldId id="374" r:id="rId60"/>
    <p:sldId id="375" r:id="rId61"/>
    <p:sldId id="376" r:id="rId62"/>
    <p:sldId id="377" r:id="rId63"/>
    <p:sldId id="378" r:id="rId64"/>
    <p:sldId id="379" r:id="rId65"/>
    <p:sldId id="447" r:id="rId66"/>
    <p:sldId id="380" r:id="rId67"/>
    <p:sldId id="381" r:id="rId68"/>
    <p:sldId id="382" r:id="rId69"/>
    <p:sldId id="383" r:id="rId70"/>
    <p:sldId id="384" r:id="rId71"/>
    <p:sldId id="385" r:id="rId72"/>
    <p:sldId id="386" r:id="rId73"/>
    <p:sldId id="443" r:id="rId74"/>
    <p:sldId id="391" r:id="rId75"/>
    <p:sldId id="450" r:id="rId76"/>
    <p:sldId id="449" r:id="rId77"/>
    <p:sldId id="432" r:id="rId78"/>
    <p:sldId id="433" r:id="rId79"/>
    <p:sldId id="434" r:id="rId80"/>
    <p:sldId id="435" r:id="rId81"/>
    <p:sldId id="392" r:id="rId82"/>
    <p:sldId id="393" r:id="rId83"/>
    <p:sldId id="394" r:id="rId84"/>
    <p:sldId id="395" r:id="rId85"/>
    <p:sldId id="399" r:id="rId86"/>
    <p:sldId id="400" r:id="rId87"/>
    <p:sldId id="402" r:id="rId88"/>
    <p:sldId id="403" r:id="rId89"/>
    <p:sldId id="404" r:id="rId90"/>
    <p:sldId id="406" r:id="rId91"/>
    <p:sldId id="407" r:id="rId92"/>
    <p:sldId id="408" r:id="rId93"/>
    <p:sldId id="409" r:id="rId94"/>
    <p:sldId id="410" r:id="rId95"/>
    <p:sldId id="451" r:id="rId96"/>
    <p:sldId id="413" r:id="rId97"/>
    <p:sldId id="414" r:id="rId98"/>
    <p:sldId id="415" r:id="rId99"/>
    <p:sldId id="416" r:id="rId100"/>
    <p:sldId id="417" r:id="rId101"/>
    <p:sldId id="418" r:id="rId102"/>
    <p:sldId id="419" r:id="rId103"/>
    <p:sldId id="421" r:id="rId104"/>
    <p:sldId id="422" r:id="rId105"/>
    <p:sldId id="452" r:id="rId106"/>
    <p:sldId id="424" r:id="rId107"/>
    <p:sldId id="425" r:id="rId108"/>
    <p:sldId id="453" r:id="rId109"/>
    <p:sldId id="426" r:id="rId110"/>
    <p:sldId id="428" r:id="rId111"/>
    <p:sldId id="436" r:id="rId112"/>
    <p:sldId id="437" r:id="rId113"/>
    <p:sldId id="438" r:id="rId114"/>
    <p:sldId id="439" r:id="rId115"/>
    <p:sldId id="440" r:id="rId116"/>
    <p:sldId id="458" r:id="rId117"/>
    <p:sldId id="459" r:id="rId118"/>
    <p:sldId id="460" r:id="rId119"/>
    <p:sldId id="461" r:id="rId120"/>
    <p:sldId id="462" r:id="rId121"/>
    <p:sldId id="463" r:id="rId122"/>
    <p:sldId id="464" r:id="rId123"/>
    <p:sldId id="465" r:id="rId124"/>
    <p:sldId id="466" r:id="rId125"/>
    <p:sldId id="467" r:id="rId126"/>
    <p:sldId id="468" r:id="rId127"/>
    <p:sldId id="469" r:id="rId128"/>
    <p:sldId id="470" r:id="rId129"/>
    <p:sldId id="471" r:id="rId130"/>
    <p:sldId id="472" r:id="rId131"/>
    <p:sldId id="473" r:id="rId132"/>
    <p:sldId id="474" r:id="rId133"/>
    <p:sldId id="475" r:id="rId134"/>
    <p:sldId id="476" r:id="rId135"/>
    <p:sldId id="477" r:id="rId136"/>
    <p:sldId id="478" r:id="rId137"/>
    <p:sldId id="479" r:id="rId138"/>
    <p:sldId id="480" r:id="rId139"/>
    <p:sldId id="481" r:id="rId140"/>
    <p:sldId id="482" r:id="rId141"/>
    <p:sldId id="357" r:id="rId142"/>
    <p:sldId id="454" r:id="rId14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A65D33E-CD42-474C-8EF2-48C9CD0C4C0D}" type="datetimeFigureOut">
              <a:rPr lang="ru-RU" smtClean="0"/>
              <a:pPr/>
              <a:t>02.10.2025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7CC3A2C-3FB5-4180-911F-F64034FD5D8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79712" y="3200400"/>
            <a:ext cx="7021444" cy="3396952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ЛЕКЦИИ</a:t>
            </a:r>
          </a:p>
          <a:p>
            <a:endParaRPr lang="ru-RU" dirty="0"/>
          </a:p>
          <a:p>
            <a:pPr algn="just"/>
            <a:endParaRPr lang="ru-RU" dirty="0"/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57356" y="1505930"/>
            <a:ext cx="7072362" cy="1470025"/>
          </a:xfrm>
        </p:spPr>
        <p:txBody>
          <a:bodyPr/>
          <a:lstStyle/>
          <a:p>
            <a:r>
              <a:rPr lang="ru-RU" dirty="0"/>
              <a:t>Система 1С:Предприятие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192879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9193" y="869834"/>
            <a:ext cx="5404403" cy="789552"/>
          </a:xfrm>
        </p:spPr>
        <p:txBody>
          <a:bodyPr/>
          <a:lstStyle/>
          <a:p>
            <a:r>
              <a:rPr lang="ru-RU" dirty="0"/>
              <a:t>Немного истории…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61" y="2275127"/>
            <a:ext cx="3918071" cy="2630479"/>
          </a:xfrm>
        </p:spPr>
      </p:pic>
      <p:sp>
        <p:nvSpPr>
          <p:cNvPr id="8" name="TextBox 7"/>
          <p:cNvSpPr txBox="1"/>
          <p:nvPr/>
        </p:nvSpPr>
        <p:spPr>
          <a:xfrm>
            <a:off x="683568" y="1916832"/>
            <a:ext cx="3734628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ru-RU" sz="2400" dirty="0"/>
              <a:t>1991г. – основание компании «1С»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ru-RU" sz="2400" dirty="0"/>
              <a:t>1995 г. – начало продаж «1С:Бухгалтерии»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ru-RU" sz="2400" dirty="0"/>
              <a:t>1997г. – «1С:Предприятие»</a:t>
            </a:r>
          </a:p>
          <a:p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345622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8850" y="23898"/>
            <a:ext cx="5586300" cy="1726729"/>
          </a:xfrm>
        </p:spPr>
        <p:txBody>
          <a:bodyPr>
            <a:normAutofit/>
          </a:bodyPr>
          <a:lstStyle/>
          <a:p>
            <a:r>
              <a:rPr lang="ru-RU" dirty="0"/>
              <a:t>Наиболее популярные </a:t>
            </a:r>
            <a:br>
              <a:rPr lang="ru-RU" dirty="0"/>
            </a:br>
            <a:r>
              <a:rPr lang="ru-RU" dirty="0"/>
              <a:t>типовые конфигурации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0126" y="2060848"/>
            <a:ext cx="6897757" cy="33944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1С:Бухгалтерия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1С:ЗУП (зарплата и управление персоналом)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1С:УТ (управление торговлей)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1С:Управление нашей фирмой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1С:Розница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004" y="4725144"/>
            <a:ext cx="4731026" cy="188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7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 1. </a:t>
            </a:r>
            <a:r>
              <a:rPr lang="ru-RU" b="1" dirty="0"/>
              <a:t>Общая информация о системе «1С:Предприятие 8.3»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556792"/>
            <a:ext cx="8572560" cy="478634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	</a:t>
            </a:r>
            <a:r>
              <a:rPr lang="ru-RU" b="1" dirty="0"/>
              <a:t>«1С:Предприятие» - универсальная система автоматизации экономической и организационной деятельности предприятия. </a:t>
            </a:r>
            <a:endParaRPr lang="ru-RU" dirty="0"/>
          </a:p>
          <a:p>
            <a:pPr>
              <a:buNone/>
            </a:pPr>
            <a:endParaRPr lang="ru-RU" dirty="0"/>
          </a:p>
          <a:p>
            <a:pPr marL="263525" indent="0">
              <a:buNone/>
            </a:pPr>
            <a:r>
              <a:rPr lang="ru-RU" dirty="0"/>
              <a:t>Поскольку такая деятельность может быть довольно разнообразной, система 1С:Предприятие может «приспосабливаться» к особенностям конкретной области деятельности, в которой она применяется. </a:t>
            </a:r>
          </a:p>
          <a:p>
            <a:pPr>
              <a:buNone/>
            </a:pPr>
            <a:endParaRPr lang="ru-RU" dirty="0"/>
          </a:p>
          <a:p>
            <a:pPr marL="273050" indent="-9525">
              <a:buNone/>
            </a:pPr>
            <a:r>
              <a:rPr lang="ru-RU" dirty="0"/>
              <a:t>Для обозначения такой способности используется термин </a:t>
            </a:r>
            <a:r>
              <a:rPr lang="ru-RU" b="1" i="1" dirty="0" err="1"/>
              <a:t>конфигурируемость</a:t>
            </a:r>
            <a:r>
              <a:rPr lang="ru-RU" dirty="0"/>
              <a:t>, то есть возможность настройки системы на особенности конкретного предприятия и класса решаемых задач. 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274638"/>
            <a:ext cx="7811666" cy="1797040"/>
          </a:xfrm>
        </p:spPr>
        <p:txBody>
          <a:bodyPr>
            <a:noAutofit/>
          </a:bodyPr>
          <a:lstStyle/>
          <a:p>
            <a:pPr indent="263525"/>
            <a:r>
              <a:rPr lang="ru-RU" sz="2400" dirty="0"/>
              <a:t>Существует одна платформа (1С:Предприятие) и множество конфигураций. </a:t>
            </a:r>
            <a:br>
              <a:rPr lang="ru-RU" sz="2400" dirty="0"/>
            </a:br>
            <a:r>
              <a:rPr lang="ru-RU" sz="2400" dirty="0"/>
              <a:t>Для функционирования какого-либо прикладного решения всегда необходима платформа и какая-либо (одна) конфигурация.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76872"/>
            <a:ext cx="7667650" cy="3971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68346"/>
          </a:xfrm>
        </p:spPr>
        <p:txBody>
          <a:bodyPr/>
          <a:lstStyle/>
          <a:p>
            <a:pPr algn="ctr"/>
            <a:r>
              <a:rPr lang="ru-RU" dirty="0"/>
              <a:t>Двойственность терминологии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412776"/>
            <a:ext cx="8501122" cy="4519404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Двойственность заключается в употреблении разных терминов для обозначения одного и того же предмета: </a:t>
            </a:r>
            <a:r>
              <a:rPr lang="ru-RU" b="1" i="1" dirty="0"/>
              <a:t>конфигурация</a:t>
            </a:r>
            <a:r>
              <a:rPr lang="ru-RU" i="1" dirty="0"/>
              <a:t> и </a:t>
            </a:r>
            <a:r>
              <a:rPr lang="ru-RU" b="1" i="1" dirty="0"/>
              <a:t>прикладное решение</a:t>
            </a:r>
            <a:r>
              <a:rPr lang="ru-RU" i="1" dirty="0"/>
              <a:t>. </a:t>
            </a:r>
          </a:p>
          <a:p>
            <a:pPr marL="0" indent="442913" algn="just"/>
            <a:r>
              <a:rPr lang="ru-RU" dirty="0"/>
              <a:t>Если речь идет о действиях разработчика, то употребляется термин </a:t>
            </a:r>
            <a:r>
              <a:rPr lang="ru-RU" b="1" u="sng" dirty="0"/>
              <a:t>конфигурация</a:t>
            </a:r>
            <a:r>
              <a:rPr lang="ru-RU" dirty="0"/>
              <a:t>, поскольку это точный термин 1С:Предприятия. </a:t>
            </a:r>
          </a:p>
          <a:p>
            <a:pPr marL="0" indent="442913" algn="just"/>
            <a:r>
              <a:rPr lang="ru-RU" dirty="0"/>
              <a:t>Термин </a:t>
            </a:r>
            <a:r>
              <a:rPr lang="ru-RU" b="1" u="sng" dirty="0"/>
              <a:t>прикладное решение </a:t>
            </a:r>
            <a:r>
              <a:rPr lang="ru-RU" dirty="0"/>
              <a:t>является более общепринятым и понятным для пользователя системы 1С:Предприятие.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Режимы работы системы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endParaRPr lang="ru-RU" i="1" dirty="0"/>
          </a:p>
          <a:p>
            <a:pPr algn="just"/>
            <a:r>
              <a:rPr lang="ru-RU" i="1" dirty="0">
                <a:solidFill>
                  <a:srgbClr val="0070C0"/>
                </a:solidFill>
              </a:rPr>
              <a:t>Режим 1С:Предприятие</a:t>
            </a:r>
            <a:r>
              <a:rPr lang="ru-RU" dirty="0"/>
              <a:t> является основным и служит для работы пользователей системы. В этом режиме пользователи вносят данные, обрабатывают их и получают выходные результаты. 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r>
              <a:rPr lang="ru-RU" i="1" dirty="0">
                <a:solidFill>
                  <a:srgbClr val="0070C0"/>
                </a:solidFill>
              </a:rPr>
              <a:t>Режим конфигуратора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/>
              <a:t>используется разработчиками и администраторами информационных баз. Именно этот режим и предоставляет инструменты, необходимые для модификации существующей или создания новой конфигурации.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429684" cy="868346"/>
          </a:xfrm>
        </p:spPr>
        <p:txBody>
          <a:bodyPr/>
          <a:lstStyle/>
          <a:p>
            <a:pPr algn="ctr"/>
            <a:r>
              <a:rPr lang="ru-RU" dirty="0"/>
              <a:t>2. Информационная база системы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4282" y="1447800"/>
            <a:ext cx="8643998" cy="4981596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В общем случае информационная база 1С:Предприятия хранит три конфигурации:</a:t>
            </a:r>
          </a:p>
          <a:p>
            <a:pPr marL="0" indent="442913" algn="just"/>
            <a:r>
              <a:rPr lang="ru-RU" i="1" dirty="0"/>
              <a:t>основную конфигурацию, </a:t>
            </a:r>
          </a:p>
          <a:p>
            <a:pPr marL="0" indent="442913" algn="just"/>
            <a:r>
              <a:rPr lang="ru-RU" i="1" dirty="0"/>
              <a:t>конфигурацию базы данных и </a:t>
            </a:r>
          </a:p>
          <a:p>
            <a:pPr marL="0" indent="442913" algn="just"/>
            <a:r>
              <a:rPr lang="ru-RU" i="1" dirty="0"/>
              <a:t>несколько конфигураций поставщиков. </a:t>
            </a:r>
          </a:p>
          <a:p>
            <a:pPr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Кроме этого вне информационной базы может существовать хранилище. В нем находится конфигурация, предназначенная для групповой разработки, и вне информационной базы может существовать некоторое количество файлов конфигураций, в том числе файлы новой поставки.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3. Объекты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142984"/>
            <a:ext cx="7772400" cy="4876816"/>
          </a:xfrm>
        </p:spPr>
        <p:txBody>
          <a:bodyPr/>
          <a:lstStyle/>
          <a:p>
            <a:pPr algn="just">
              <a:buNone/>
            </a:pPr>
            <a:r>
              <a:rPr lang="ru-RU" dirty="0"/>
              <a:t>Термин объект употребляется в одном из трех контекстов:</a:t>
            </a:r>
          </a:p>
          <a:p>
            <a:pPr algn="just">
              <a:buNone/>
            </a:pPr>
            <a:endParaRPr lang="ru-RU" dirty="0"/>
          </a:p>
          <a:p>
            <a:pPr lvl="0" algn="just"/>
            <a:r>
              <a:rPr lang="ru-RU" dirty="0"/>
              <a:t>конфигурация;</a:t>
            </a:r>
          </a:p>
          <a:p>
            <a:pPr lvl="0" algn="just"/>
            <a:r>
              <a:rPr lang="ru-RU" dirty="0"/>
              <a:t>база данных;</a:t>
            </a:r>
          </a:p>
          <a:p>
            <a:pPr algn="just"/>
            <a:r>
              <a:rPr lang="ru-RU" dirty="0"/>
              <a:t>встроенный язык.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836712"/>
            <a:ext cx="8568952" cy="4875454"/>
          </a:xfrm>
        </p:spPr>
        <p:txBody>
          <a:bodyPr>
            <a:normAutofit/>
          </a:bodyPr>
          <a:lstStyle/>
          <a:p>
            <a:pPr marL="263525" indent="179388" algn="just">
              <a:tabLst>
                <a:tab pos="8248650" algn="r"/>
              </a:tabLst>
            </a:pPr>
            <a:r>
              <a:rPr lang="ru-RU" dirty="0"/>
              <a:t>В контексте конфигурации: некоторая совокупность описания данных и алгоритмов работы с этими данными. </a:t>
            </a:r>
          </a:p>
          <a:p>
            <a:pPr marL="263525" indent="179388" algn="just">
              <a:buNone/>
              <a:tabLst>
                <a:tab pos="8248650" algn="r"/>
              </a:tabLst>
            </a:pPr>
            <a:endParaRPr lang="ru-RU" dirty="0"/>
          </a:p>
          <a:p>
            <a:pPr marL="263525" indent="179388" algn="just">
              <a:buNone/>
              <a:tabLst>
                <a:tab pos="8248650" algn="r"/>
              </a:tabLst>
            </a:pPr>
            <a:r>
              <a:rPr lang="ru-RU" dirty="0"/>
              <a:t>Например, в конфигурации может существовать объект справочник Сотрудники.</a:t>
            </a:r>
          </a:p>
          <a:p>
            <a:pPr marL="263525" indent="179388" algn="just">
              <a:buNone/>
              <a:tabLst>
                <a:tab pos="8248650" algn="r"/>
              </a:tabLst>
            </a:pPr>
            <a:endParaRPr lang="ru-RU" dirty="0"/>
          </a:p>
          <a:p>
            <a:pPr marL="263525" indent="179388" algn="just">
              <a:buNone/>
              <a:tabLst>
                <a:tab pos="8248650" algn="r"/>
              </a:tabLst>
            </a:pPr>
            <a:r>
              <a:rPr lang="ru-RU" dirty="0"/>
              <a:t>На основании каждого объекта конфигурации в базе данных создается информационная структура, в которой будут храниться данные.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285728"/>
            <a:ext cx="8280920" cy="6357982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В контексте базы данных: некий элемент такой информационной структуры.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Характерной особенностью такого элемента является то, что на него (как на совокупность данных) существует ссылка, которая может являться значением какого-либо поля другой информационной структуры.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Например, в базе данных существует справочник Сотрудники, в котором есть сотрудник Иванов. </a:t>
            </a:r>
          </a:p>
          <a:p>
            <a:pPr marL="0" indent="442913" algn="just">
              <a:buNone/>
            </a:pPr>
            <a:r>
              <a:rPr lang="ru-RU" dirty="0"/>
              <a:t>В этом случае элемент справочника, содержащий информацию о сотруднике Иванове, будет являться объектом базы данных.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910208"/>
            <a:ext cx="8496944" cy="5183088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В контексте встроенного языка: тип данных, позволяющий получить доступ к данным и обладающий набором свойств и методов. </a:t>
            </a:r>
          </a:p>
          <a:p>
            <a:pPr marL="0" indent="442913" algn="just"/>
            <a:endParaRPr lang="ru-RU" dirty="0"/>
          </a:p>
          <a:p>
            <a:pPr marL="0" indent="442913" algn="just">
              <a:buNone/>
            </a:pPr>
            <a:r>
              <a:rPr lang="ru-RU" dirty="0"/>
              <a:t>Существует целый ряд объектов встроенного языка, позволяющих работать со справочниками (</a:t>
            </a:r>
            <a:r>
              <a:rPr lang="ru-RU" dirty="0" err="1"/>
              <a:t>СправочникиМенеджер</a:t>
            </a:r>
            <a:r>
              <a:rPr lang="ru-RU" dirty="0"/>
              <a:t>, </a:t>
            </a:r>
            <a:r>
              <a:rPr lang="ru-RU" dirty="0" err="1"/>
              <a:t>СправочникМенеджер</a:t>
            </a:r>
            <a:r>
              <a:rPr lang="ru-RU" dirty="0"/>
              <a:t>.&lt;имя&gt;, </a:t>
            </a:r>
            <a:r>
              <a:rPr lang="ru-RU" dirty="0" err="1"/>
              <a:t>СправочникСсылка</a:t>
            </a:r>
            <a:r>
              <a:rPr lang="ru-RU" dirty="0"/>
              <a:t>.&lt;имя&gt; и т. д.).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Среди них есть один объект, который предоставляет доступ к объекту справочника в базе данных – </a:t>
            </a:r>
            <a:r>
              <a:rPr lang="ru-RU" dirty="0" err="1"/>
              <a:t>СправочникОбъект</a:t>
            </a:r>
            <a:r>
              <a:rPr lang="ru-RU" dirty="0"/>
              <a:t>.&lt;имя&gt;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 конфигурации, объект базы данных, объекты встроенного языка</a:t>
            </a:r>
          </a:p>
        </p:txBody>
      </p:sp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7594" y="1844824"/>
            <a:ext cx="7308812" cy="4392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214290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Понятие «конфигурация»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96662" y="970995"/>
            <a:ext cx="8064896" cy="5572164"/>
          </a:xfrm>
        </p:spPr>
        <p:txBody>
          <a:bodyPr>
            <a:normAutofit fontScale="92500" lnSpcReduction="10000"/>
          </a:bodyPr>
          <a:lstStyle/>
          <a:p>
            <a:pPr marL="0" indent="442913" algn="just">
              <a:buNone/>
            </a:pPr>
            <a:r>
              <a:rPr lang="ru-RU" b="1" dirty="0"/>
              <a:t>Конфигурацией в системе 1С называется совокупность взаимосвязанных составных частей:</a:t>
            </a:r>
          </a:p>
          <a:p>
            <a:pPr marL="0" indent="442913" algn="just"/>
            <a:r>
              <a:rPr lang="ru-RU" dirty="0"/>
              <a:t>структуры учетных данных, их форм ввода, выбора, печати;</a:t>
            </a:r>
          </a:p>
          <a:p>
            <a:pPr marL="0" indent="442913" algn="just"/>
            <a:r>
              <a:rPr lang="ru-RU" dirty="0"/>
              <a:t>состава механизмов учета итоговых данных и движений учетных данных;</a:t>
            </a:r>
          </a:p>
          <a:p>
            <a:pPr marL="0" indent="442913" algn="just"/>
            <a:r>
              <a:rPr lang="ru-RU" dirty="0"/>
              <a:t>состава различных отчетов и обработок;</a:t>
            </a:r>
          </a:p>
          <a:p>
            <a:pPr marL="0" indent="442913" algn="just"/>
            <a:r>
              <a:rPr lang="ru-RU" dirty="0"/>
              <a:t>набора пользовательских интерфейсов;</a:t>
            </a:r>
          </a:p>
          <a:p>
            <a:pPr marL="0" indent="442913" algn="just"/>
            <a:r>
              <a:rPr lang="ru-RU" dirty="0"/>
              <a:t>набора ролей (прав доступа);</a:t>
            </a:r>
          </a:p>
          <a:p>
            <a:pPr marL="0" indent="442913" algn="just"/>
            <a:r>
              <a:rPr lang="ru-RU" dirty="0"/>
              <a:t>набора общих процедур и функций (модуль приложения, модуль внешнего соединения, общие модули), макетов табличных документов и др.;</a:t>
            </a:r>
          </a:p>
          <a:p>
            <a:pPr marL="0" indent="442913" algn="just"/>
            <a:r>
              <a:rPr lang="ru-RU" dirty="0"/>
              <a:t>вспомогательных объектов (картинки, шаблоны, стили и т. д.).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690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Объекты конфигурации (метаданные)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071546"/>
            <a:ext cx="8352928" cy="5572164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Под объектом конфигурации в системе 1С понимается формальное описание группы понятий со сходными характеристиками и одинаковым предназначением.</a:t>
            </a:r>
          </a:p>
          <a:p>
            <a:pPr marL="0" indent="442913" algn="just">
              <a:buNone/>
            </a:pPr>
            <a:r>
              <a:rPr lang="ru-RU" dirty="0"/>
              <a:t>Следует иметь в виду, что объект конфигурации описывает не конкретное значение, а только его вид.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i="1" dirty="0"/>
              <a:t>Например, справочник Сотрудники описывает не конкретного человека, а содержит перечень </a:t>
            </a:r>
            <a:r>
              <a:rPr lang="ru-RU" b="1" i="1" dirty="0"/>
              <a:t>реквизитов</a:t>
            </a:r>
            <a:r>
              <a:rPr lang="ru-RU" i="1" dirty="0"/>
              <a:t> (набор видов характеристик о сотруднике), а также формы для ввода их значений, формы просмотра списков и макеты для печати информации.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sz="quarter" idx="1"/>
          </p:nvPr>
        </p:nvSpPr>
        <p:spPr>
          <a:xfrm>
            <a:off x="281705" y="3533902"/>
            <a:ext cx="4650335" cy="311826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Реализованный в системе 1С:Предприятие при помощи объекта конфигурации компьютерный аналог конкретного понятия предметной области будем называть </a:t>
            </a:r>
            <a:r>
              <a:rPr lang="ru-RU" b="1" dirty="0"/>
              <a:t>объектом конфигурации.</a:t>
            </a:r>
          </a:p>
          <a:p>
            <a:pPr algn="just"/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/>
          <a:srcRect l="12568" t="12762" r="12718" b="16464"/>
          <a:stretch/>
        </p:blipFill>
        <p:spPr>
          <a:xfrm>
            <a:off x="120862" y="111644"/>
            <a:ext cx="6251337" cy="3330936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3"/>
          <a:srcRect l="27623" t="11969" r="27660" b="14482"/>
          <a:stretch/>
        </p:blipFill>
        <p:spPr>
          <a:xfrm>
            <a:off x="5076056" y="3068960"/>
            <a:ext cx="3872948" cy="35832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объекта конфигурации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447800"/>
            <a:ext cx="8219256" cy="4410092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Каждый объект конфигурации обладает уникальным набором свойств.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Этот набор описан на уровне системы и не может быть изменен в процессе настройки конфигурации задачи.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Набор свойств объекта конфигурации определяется в основном его назначением в системе 1С:Предприятие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799" y="332656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Основные виды объектов конфигурации</a:t>
            </a:r>
          </a:p>
        </p:txBody>
      </p:sp>
      <p:pic>
        <p:nvPicPr>
          <p:cNvPr id="5" name="Объект 3"/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t="10703" r="86521" b="37180"/>
          <a:stretch/>
        </p:blipFill>
        <p:spPr>
          <a:xfrm>
            <a:off x="3411592" y="1628800"/>
            <a:ext cx="2320815" cy="5047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827112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Справочники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870992" y="1772816"/>
            <a:ext cx="7402016" cy="3124208"/>
          </a:xfrm>
        </p:spPr>
        <p:txBody>
          <a:bodyPr>
            <a:normAutofit fontScale="92500" lnSpcReduction="10000"/>
          </a:bodyPr>
          <a:lstStyle/>
          <a:p>
            <a:pPr marL="0" indent="442913" algn="just">
              <a:buNone/>
            </a:pPr>
            <a:r>
              <a:rPr lang="ru-RU" dirty="0"/>
              <a:t>Для работы с постоянной и условно постоянной информацией с некоторым множеством значений в системе используются объекты типа </a:t>
            </a:r>
            <a:r>
              <a:rPr lang="ru-RU" b="1" dirty="0"/>
              <a:t>Справочник.</a:t>
            </a:r>
          </a:p>
          <a:p>
            <a:pPr marL="0" indent="442913" algn="just"/>
            <a:endParaRPr lang="ru-RU" b="1" dirty="0"/>
          </a:p>
          <a:p>
            <a:pPr marL="0" indent="442913" algn="just"/>
            <a:endParaRPr lang="ru-RU" dirty="0"/>
          </a:p>
          <a:p>
            <a:pPr marL="0" indent="442913" algn="just">
              <a:buNone/>
            </a:pPr>
            <a:r>
              <a:rPr lang="ru-RU" dirty="0"/>
              <a:t>Обычно справочниками являются списки материалов, товаров, организаций, валют, сотрудников и др.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928670"/>
            <a:ext cx="7920880" cy="5000660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На этапе конфигурирования описываются свойства конкретного справочника. </a:t>
            </a:r>
          </a:p>
          <a:p>
            <a:pPr marL="0" indent="442913" algn="just">
              <a:buNone/>
            </a:pPr>
            <a:r>
              <a:rPr lang="ru-RU" dirty="0"/>
              <a:t>К настраиваемым свойствам относятся, например,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/>
            <a:r>
              <a:rPr lang="ru-RU" dirty="0"/>
              <a:t>длина и тип кода, </a:t>
            </a:r>
          </a:p>
          <a:p>
            <a:pPr marL="0" indent="442913" algn="just"/>
            <a:r>
              <a:rPr lang="ru-RU" dirty="0"/>
              <a:t>количество уровней иерархии, </a:t>
            </a:r>
          </a:p>
          <a:p>
            <a:pPr marL="0" indent="442913" algn="just"/>
            <a:r>
              <a:rPr lang="ru-RU" dirty="0"/>
              <a:t>поддержка уникальности кодов, </a:t>
            </a:r>
          </a:p>
          <a:p>
            <a:pPr marL="0" indent="442913" algn="just"/>
            <a:r>
              <a:rPr lang="ru-RU" dirty="0"/>
              <a:t>набор реквизитов справочника.</a:t>
            </a:r>
          </a:p>
          <a:p>
            <a:pPr marL="0" indent="442913" algn="just"/>
            <a:r>
              <a:rPr lang="ru-RU" dirty="0"/>
              <a:t>табличные части справочника.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29B62-6CE9-46BD-A080-C48C5647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880" y="145504"/>
            <a:ext cx="6048672" cy="69269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1B9AD-0262-49EE-8149-2BD3CF30ED9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851200"/>
            <a:ext cx="8132440" cy="553012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/>
              <a:t>Разработать информационную базу, автоматизирующую документооборот предприятия оказывающего услуги и продающего материалы в розницу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Документы: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Приходная накладная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Акт об оказанных услугах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Товарный чек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Приходный кассовый ордер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Расходный кассовый ордер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Справочники: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Склады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Наша организация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Поставщики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Единицы измерения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Номенклатура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Должности</a:t>
            </a:r>
          </a:p>
          <a:p>
            <a:pPr marL="628650" indent="-177800" algn="just">
              <a:buFont typeface="Courier New" panose="02070309020205020404" pitchFamily="49" charset="0"/>
              <a:buChar char="o"/>
            </a:pPr>
            <a:r>
              <a:rPr lang="ru-RU" dirty="0"/>
              <a:t>Сотрудники</a:t>
            </a:r>
          </a:p>
        </p:txBody>
      </p:sp>
    </p:spTree>
    <p:extLst>
      <p:ext uri="{BB962C8B-B14F-4D97-AF65-F5344CB8AC3E}">
        <p14:creationId xmlns:p14="http://schemas.microsoft.com/office/powerpoint/2010/main" val="3704140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7772400" cy="7969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Документы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47564" y="1916832"/>
            <a:ext cx="7848872" cy="3744416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Документы предназначены для отражения хозяйственных событий предприятия, которые имеют отношение к автоматизируемой предметной области.</a:t>
            </a:r>
          </a:p>
          <a:p>
            <a:pPr marL="0" indent="442913" algn="just">
              <a:buNone/>
            </a:pPr>
            <a:r>
              <a:rPr lang="ru-RU" dirty="0"/>
              <a:t>  </a:t>
            </a:r>
          </a:p>
          <a:p>
            <a:pPr marL="0" indent="442913" algn="just">
              <a:buNone/>
            </a:pPr>
            <a:r>
              <a:rPr lang="ru-RU" dirty="0"/>
              <a:t>Каждый вид документа предназначен для отражения своего типа событий. Это определяет его структуру и свойства, которые описываются в конфигурации.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714348" y="428604"/>
            <a:ext cx="7602068" cy="5929354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sz="2800" dirty="0"/>
              <a:t>Все документы характеризуются </a:t>
            </a:r>
            <a:r>
              <a:rPr lang="ru-RU" sz="2800" i="1" dirty="0"/>
              <a:t>номером, датой и временем</a:t>
            </a:r>
            <a:r>
              <a:rPr lang="ru-RU" sz="2800" dirty="0"/>
              <a:t>. </a:t>
            </a:r>
          </a:p>
          <a:p>
            <a:pPr marL="0" indent="442913" algn="just">
              <a:buNone/>
            </a:pPr>
            <a:endParaRPr lang="ru-RU" sz="2800" dirty="0"/>
          </a:p>
          <a:p>
            <a:pPr marL="0" indent="442913" algn="just">
              <a:buNone/>
            </a:pPr>
            <a:r>
              <a:rPr lang="ru-RU" sz="2800" dirty="0"/>
              <a:t>Документы играют центральную роль для основных механизмов, реализуемых системой. </a:t>
            </a:r>
          </a:p>
          <a:p>
            <a:pPr marL="0" indent="442913" algn="just">
              <a:buNone/>
            </a:pPr>
            <a:endParaRPr lang="ru-RU" sz="2800" dirty="0"/>
          </a:p>
          <a:p>
            <a:pPr marL="0" indent="442913" algn="just">
              <a:buNone/>
            </a:pPr>
            <a:r>
              <a:rPr lang="ru-RU" sz="2800" dirty="0"/>
              <a:t>Все документы образуют единую хронологическую последовательность. </a:t>
            </a:r>
          </a:p>
          <a:p>
            <a:pPr marL="0" indent="442913" algn="just">
              <a:buNone/>
            </a:pPr>
            <a:endParaRPr lang="ru-RU" sz="2800" dirty="0"/>
          </a:p>
          <a:p>
            <a:pPr marL="0" indent="442913" algn="just">
              <a:buNone/>
            </a:pPr>
            <a:r>
              <a:rPr lang="ru-RU" sz="2800" dirty="0"/>
              <a:t>Фактически она отражает реальную последовательность событий. </a:t>
            </a:r>
          </a:p>
          <a:p>
            <a:pPr>
              <a:buNone/>
            </a:pPr>
            <a:endParaRPr lang="ru-RU" sz="2800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755576" y="857232"/>
            <a:ext cx="7632848" cy="5357850"/>
          </a:xfrm>
        </p:spPr>
        <p:txBody>
          <a:bodyPr>
            <a:normAutofit fontScale="92500" lnSpcReduction="10000"/>
          </a:bodyPr>
          <a:lstStyle/>
          <a:p>
            <a:pPr marL="0" indent="442913" algn="just">
              <a:buNone/>
            </a:pPr>
            <a:r>
              <a:rPr lang="ru-RU" dirty="0"/>
              <a:t>Для документа весьма важным действием является его проведение.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Если документ не является «проводимым», это значит, что событие, которое он отражает, не влияет на состояние учета, который ведется в данной конфигурации.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Если документ проводится, то он изменяет состояние тех или иных учитываемых данных.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При проведении документ может отразить зафиксированное им событие в механизмах, реализуемых различными регистрами.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6024" y="260648"/>
            <a:ext cx="7772400" cy="79690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Константы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827584" y="1196752"/>
            <a:ext cx="7560840" cy="5053034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Для работы с постоянной и условно постоянной информацией в системе используются объекты типа </a:t>
            </a:r>
            <a:r>
              <a:rPr lang="ru-RU" b="1" dirty="0"/>
              <a:t>Константа. </a:t>
            </a:r>
          </a:p>
          <a:p>
            <a:pPr marL="0" indent="442913" algn="just">
              <a:buNone/>
            </a:pPr>
            <a:endParaRPr lang="ru-RU" b="1" dirty="0"/>
          </a:p>
          <a:p>
            <a:pPr marL="0" indent="442913" algn="just">
              <a:buNone/>
            </a:pPr>
            <a:r>
              <a:rPr lang="ru-RU" dirty="0"/>
              <a:t>Информация, хранящаяся в константах, редко изменяется, но, как правило, часто используется в работе.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Например, в константах может храниться наименование предприятия, его ИНН, фамилии директора и главного бухгалтера и другая подобная информация.</a:t>
            </a:r>
          </a:p>
          <a:p>
            <a:pPr marL="0" indent="442913" algn="just">
              <a:buNone/>
            </a:pPr>
            <a:endParaRPr lang="ru-RU" dirty="0"/>
          </a:p>
          <a:p>
            <a:pPr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1489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Перечисления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142984"/>
            <a:ext cx="8233518" cy="5019692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Перечисления используются в системе 1С для описания постоянных наборов значений, не изменяемых в процессе работы конфигурации.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В отличие от справочника, значения перечислений задаются на этапе конфигурирования и не могут быть изменены на этапе исполнения.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Типичными примерами перечислений являются </a:t>
            </a:r>
            <a:r>
              <a:rPr lang="ru-RU" b="1" dirty="0"/>
              <a:t>виды оплаты (наличная, безналичная, бартер), статус клиента (постоянный, разовый) </a:t>
            </a:r>
            <a:r>
              <a:rPr lang="ru-RU" dirty="0"/>
              <a:t>и т. д.</a:t>
            </a:r>
          </a:p>
        </p:txBody>
      </p:sp>
    </p:spTree>
    <p:extLst>
      <p:ext uri="{BB962C8B-B14F-4D97-AF65-F5344CB8AC3E}">
        <p14:creationId xmlns:p14="http://schemas.microsoft.com/office/powerpoint/2010/main" val="2301272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65293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Журналы документов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928670"/>
            <a:ext cx="8147248" cy="5572164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Журналы документов предназначены для просмотра документов разных видов.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Журнал документов не добавляет новых данных в систему, а является средством для отображения в едином списке документов нескольких видов.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i="1" dirty="0"/>
              <a:t>Например, может быть создан журнал Складские документы, в котором будут отображаться все приходные и расходные накладные и накладные на внутреннее перемещение.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9206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94729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Отчеты и обработки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785794"/>
            <a:ext cx="8136904" cy="5786478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Алгоритм получения отчета может описываться с использованием встроенного языка или формироваться системой автоматически, в случае </a:t>
            </a:r>
            <a:r>
              <a:rPr lang="ru-RU" b="1" u="sng" dirty="0"/>
              <a:t>использования системы компоновки данных. </a:t>
            </a:r>
          </a:p>
          <a:p>
            <a:pPr marL="0" indent="442913" algn="just"/>
            <a:endParaRPr lang="ru-RU" b="1" u="sng" dirty="0"/>
          </a:p>
          <a:p>
            <a:pPr marL="0" indent="442913" algn="just"/>
            <a:r>
              <a:rPr lang="ru-RU" dirty="0"/>
              <a:t>Для вывода отчетов может быть использован как текстовый формат, так и специализированный табличный формат отчетов (макеты).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Система также поддерживает возможность разработки внешних обработок, хранящихся не в самой конфигурации, а в отдельных файлах.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3686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4382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Планы видов характеристик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1196752"/>
            <a:ext cx="7772400" cy="1944216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В    системе    1С     объекты    Планы     видов     характеристик  предназначены для описания множеств однотипных объектов аналитического учета.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195736" y="3184001"/>
            <a:ext cx="449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Планы видов расчета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11560" y="4077072"/>
            <a:ext cx="77724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just">
              <a:buNone/>
            </a:pPr>
            <a:r>
              <a:rPr lang="ru-RU" sz="2600" dirty="0"/>
              <a:t>Объекты данного вида предназначены для создания видов расчетов, используемых в механизмах периодических расчетов.</a:t>
            </a:r>
          </a:p>
        </p:txBody>
      </p:sp>
    </p:spTree>
    <p:extLst>
      <p:ext uri="{BB962C8B-B14F-4D97-AF65-F5344CB8AC3E}">
        <p14:creationId xmlns:p14="http://schemas.microsoft.com/office/powerpoint/2010/main" val="436006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Планы счетов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2372" y="1196752"/>
            <a:ext cx="8219256" cy="5214974"/>
          </a:xfrm>
        </p:spPr>
        <p:txBody>
          <a:bodyPr/>
          <a:lstStyle/>
          <a:p>
            <a:pPr marL="0" indent="442913" algn="just"/>
            <a:r>
              <a:rPr lang="ru-RU" dirty="0"/>
              <a:t>План счетов является одним из основных понятий бухгалтерского учета.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b="1" dirty="0"/>
              <a:t>Планом счетов </a:t>
            </a:r>
            <a:r>
              <a:rPr lang="ru-RU" dirty="0"/>
              <a:t>называется совокупность синтетических счетов, предназначенных для группировки информации о хозяйственной деятельности предприятия.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Информация, накапливаемая на таких синтетических счетах, позволяет получить полную картину состояния средств предприятия в денежном выражении.</a:t>
            </a:r>
          </a:p>
        </p:txBody>
      </p:sp>
    </p:spTree>
    <p:extLst>
      <p:ext uri="{BB962C8B-B14F-4D97-AF65-F5344CB8AC3E}">
        <p14:creationId xmlns:p14="http://schemas.microsoft.com/office/powerpoint/2010/main" val="2295432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Бизнес-процессы и задачи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71472" y="1071546"/>
            <a:ext cx="8032976" cy="5500726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Позволяют создавать формализованные описания типичных последовательностей работ, выполняемых в организации, и на их основе формировать списки задач, которые необходимо выполнить тому или иному сотруднику организации в данный момент.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В любой момент времени можно определить, в каком состоянии находится процесс продажи товара и кто из сотрудников в данный момент должен выполнить какие-либо действия.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895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Регистры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48070" y="927060"/>
            <a:ext cx="8300394" cy="5598283"/>
          </a:xfrm>
        </p:spPr>
        <p:txBody>
          <a:bodyPr>
            <a:normAutofit lnSpcReduction="10000"/>
          </a:bodyPr>
          <a:lstStyle/>
          <a:p>
            <a:pPr marL="0" indent="442913" algn="just"/>
            <a:r>
              <a:rPr lang="ru-RU" dirty="0"/>
              <a:t>Регистры предназначены для хранения и обработки различной информации, отражающей хозяйственную или организационную деятельность предприятия и не имеющей объектной природы.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В регистрах обычно хранится информация об изменении состояний объектов или другая информация, не отражающая непосредственно объекты предметной области.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В системе 1С:Предприятие существует 4 вида регистров: </a:t>
            </a:r>
            <a:r>
              <a:rPr lang="ru-RU" b="1" dirty="0"/>
              <a:t>регистры сведений, регистры накопления, регистры расчетов и регистры бухгалтерии.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9140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Подчиненные группы объектов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1071546"/>
            <a:ext cx="8286808" cy="5286412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В зависимости от вида объекта конфигурации объект может иметь различные подчиненные группы объектов. Состав подчиненных объектов зависит от типа объекта.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Реквизиты</a:t>
            </a:r>
            <a:r>
              <a:rPr lang="ru-RU" dirty="0"/>
              <a:t> -дополнительная информация об объекте, доступная только в пределах этого объекта.</a:t>
            </a:r>
          </a:p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Табличные части </a:t>
            </a:r>
            <a:r>
              <a:rPr lang="ru-RU" dirty="0"/>
              <a:t>- наборы дополнительной информации об объекте, представленной в виде таблицы.</a:t>
            </a:r>
          </a:p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Реквизиты табличных частей </a:t>
            </a:r>
            <a:r>
              <a:rPr lang="ru-RU" dirty="0"/>
              <a:t>- состав табличной части объекта, доступный только в пределах табличной части объекта.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3568" y="764704"/>
            <a:ext cx="7776864" cy="6215106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Формы </a:t>
            </a:r>
            <a:r>
              <a:rPr lang="ru-RU" dirty="0"/>
              <a:t>- используются для ввода, просмотра и редактирования информации, хранящейся в объекте конфигурации, содержит модуль формы - программу на встроенном языке системы 1 С. </a:t>
            </a:r>
          </a:p>
          <a:p>
            <a:pPr marL="0" indent="442913" algn="just"/>
            <a:endParaRPr lang="ru-RU" dirty="0"/>
          </a:p>
          <a:p>
            <a:pPr marL="0" indent="442913" algn="just">
              <a:buNone/>
            </a:pPr>
            <a:r>
              <a:rPr lang="ru-RU" dirty="0"/>
              <a:t>Для разработки форм в конфигураторе применяется комплексный редактор форм, позволяющий редактировать все компоненты формы во взаимосвязи.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Каждый объект может иметь несколько форм.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548680"/>
            <a:ext cx="8064896" cy="6143668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Макеты </a:t>
            </a:r>
            <a:r>
              <a:rPr lang="ru-RU" dirty="0"/>
              <a:t>- табличные, </a:t>
            </a:r>
            <a:r>
              <a:rPr lang="en-US" dirty="0"/>
              <a:t>HTML </a:t>
            </a:r>
            <a:r>
              <a:rPr lang="ru-RU" dirty="0"/>
              <a:t>или текстовые документы (также могут использоваться двоичные и </a:t>
            </a:r>
            <a:r>
              <a:rPr lang="en-US" dirty="0"/>
              <a:t>Active</a:t>
            </a:r>
            <a:r>
              <a:rPr lang="ru-RU" dirty="0"/>
              <a:t>-документы), предназначенные для формирования печатных форм объекта.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Графы </a:t>
            </a:r>
            <a:r>
              <a:rPr lang="ru-RU" dirty="0"/>
              <a:t>- </a:t>
            </a:r>
            <a:r>
              <a:rPr lang="ru-RU" dirty="0" err="1"/>
              <a:t>графы</a:t>
            </a:r>
            <a:r>
              <a:rPr lang="ru-RU" dirty="0"/>
              <a:t> журнала документов.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Измерения </a:t>
            </a:r>
            <a:r>
              <a:rPr lang="ru-RU" dirty="0"/>
              <a:t>- для регистров это объекты конфигурации, данные о которых учитываются в регистре.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Ресурсы </a:t>
            </a:r>
            <a:r>
              <a:rPr lang="ru-RU" dirty="0"/>
              <a:t>- данные, учитываемые в регистре.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Типизированные и </a:t>
            </a:r>
            <a:r>
              <a:rPr lang="ru-RU" b="1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типообразующие</a:t>
            </a:r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объекты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1447800"/>
            <a:ext cx="8258204" cy="5053034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Одним из основных свойств некоторых объектов конфигурации является </a:t>
            </a:r>
            <a:r>
              <a:rPr lang="ru-RU" b="1" dirty="0"/>
              <a:t>Тип данных.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Это свойство определяет, какого рода информацию может содержать объект конфигурации.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Тип данных объекта конфигурации назначается при создании или редактировании свойств объекта в процессе настройки конфигурации</a:t>
            </a:r>
            <a:r>
              <a:rPr lang="ru-RU" b="1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3568" y="857232"/>
            <a:ext cx="7848872" cy="5162568"/>
          </a:xfrm>
        </p:spPr>
        <p:txBody>
          <a:bodyPr/>
          <a:lstStyle/>
          <a:p>
            <a:pPr marL="0" indent="442913" algn="just"/>
            <a:r>
              <a:rPr lang="ru-RU" dirty="0"/>
              <a:t>Объекты конфигурации, для которых может быть указан тип информации, содержащейся в объекте, в системе 1С называются типизированными объектами конфигурации.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Такие   объекты   конфигурации,   как  </a:t>
            </a:r>
            <a:r>
              <a:rPr lang="ru-RU" b="1" dirty="0"/>
              <a:t>Справочник,  Документ,   Обработка,  </a:t>
            </a:r>
            <a:r>
              <a:rPr lang="ru-RU" dirty="0"/>
              <a:t> не являются типизированными объектами, так как содержат «комплексную» информацию и, в свою очередь, включают в себя типизированные объекты конфигурации.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764704"/>
            <a:ext cx="8064896" cy="5786478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Типы данных, которые может принимать объект конфигурации, можно разделить на две группы.</a:t>
            </a:r>
          </a:p>
          <a:p>
            <a:pPr marL="0" indent="442913" algn="just"/>
            <a:endParaRPr lang="ru-RU" dirty="0"/>
          </a:p>
          <a:p>
            <a:pPr marL="0" indent="442913" algn="just">
              <a:buNone/>
            </a:pPr>
            <a:r>
              <a:rPr lang="ru-RU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Первую группу </a:t>
            </a:r>
            <a:r>
              <a:rPr lang="ru-RU" dirty="0"/>
              <a:t>составляют примитивные типы данных: Число, Строка, Дата и Булево. </a:t>
            </a:r>
          </a:p>
          <a:p>
            <a:pPr marL="0" indent="442913" algn="just"/>
            <a:r>
              <a:rPr lang="ru-RU" dirty="0"/>
              <a:t>Соответственно, информация, хранящаяся в объекте конфигурации, может быть числом, произвольной строкой символов, датой или логической величиной. </a:t>
            </a:r>
          </a:p>
          <a:p>
            <a:pPr marL="0" indent="442913" algn="just"/>
            <a:r>
              <a:rPr lang="ru-RU" dirty="0"/>
              <a:t>Кроме этих типов к примитивным типам относят </a:t>
            </a:r>
            <a:r>
              <a:rPr lang="en-US" dirty="0"/>
              <a:t>NULL, </a:t>
            </a:r>
            <a:r>
              <a:rPr lang="ru-RU" dirty="0" err="1"/>
              <a:t>Неопределено</a:t>
            </a:r>
            <a:r>
              <a:rPr lang="ru-RU" dirty="0"/>
              <a:t> и Тип</a:t>
            </a:r>
            <a:r>
              <a:rPr lang="ru-RU" u="sng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214290"/>
            <a:ext cx="8258204" cy="6429420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Объекты конфигурации, которые могут образовывать типы значений конфигурации, в системе 1С:Предприятие называются </a:t>
            </a:r>
            <a:r>
              <a:rPr lang="ru-RU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типообразующими </a:t>
            </a:r>
            <a:r>
              <a:rPr lang="ru-RU" dirty="0"/>
              <a:t>объектами конфигурации. </a:t>
            </a:r>
          </a:p>
          <a:p>
            <a:pPr marL="0" indent="442913" algn="just">
              <a:buNone/>
            </a:pPr>
            <a:r>
              <a:rPr lang="ru-RU" dirty="0"/>
              <a:t>Такими объектами в системе 1С являются:</a:t>
            </a:r>
          </a:p>
          <a:p>
            <a:pPr marL="0" indent="442913" algn="just"/>
            <a:r>
              <a:rPr lang="ru-RU" i="1" dirty="0"/>
              <a:t>Справочники;</a:t>
            </a:r>
          </a:p>
          <a:p>
            <a:pPr marL="0" indent="442913" algn="just"/>
            <a:r>
              <a:rPr lang="ru-RU" i="1" dirty="0"/>
              <a:t>Документы;</a:t>
            </a:r>
          </a:p>
          <a:p>
            <a:pPr marL="0" indent="442913" algn="just"/>
            <a:r>
              <a:rPr lang="ru-RU" i="1" dirty="0"/>
              <a:t>Планы видов характеристик; </a:t>
            </a:r>
          </a:p>
          <a:p>
            <a:pPr marL="0" indent="442913" algn="just"/>
            <a:r>
              <a:rPr lang="ru-RU" i="1" dirty="0"/>
              <a:t>Планы счетов;</a:t>
            </a:r>
          </a:p>
          <a:p>
            <a:pPr marL="0" indent="442913" algn="just"/>
            <a:r>
              <a:rPr lang="ru-RU" i="1" dirty="0"/>
              <a:t>Планы видов расчета;</a:t>
            </a:r>
          </a:p>
          <a:p>
            <a:pPr marL="0" indent="442913" algn="just"/>
            <a:r>
              <a:rPr lang="ru-RU" i="1" dirty="0"/>
              <a:t>Бизнес-процессы;</a:t>
            </a:r>
          </a:p>
          <a:p>
            <a:pPr marL="0" indent="442913" algn="just"/>
            <a:r>
              <a:rPr lang="ru-RU" i="1" dirty="0"/>
              <a:t>Задачи;</a:t>
            </a:r>
          </a:p>
          <a:p>
            <a:pPr marL="0" indent="442913" algn="just"/>
            <a:r>
              <a:rPr lang="ru-RU" i="1" dirty="0"/>
              <a:t>Перечисления.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42852"/>
            <a:ext cx="8712968" cy="6500858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Необходимо обратить внимание, что </a:t>
            </a:r>
            <a:r>
              <a:rPr lang="ru-RU" dirty="0" err="1"/>
              <a:t>типообразующие</a:t>
            </a:r>
            <a:r>
              <a:rPr lang="ru-RU" dirty="0"/>
              <a:t> объекты конфигурации образуют тип данных сразу после создания в конфигураторе объекта любого из таких типов. При этом появляются сразу три новых вида типов: Ссылка, Объект и Список.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Например, когда в конфигураторе создается новый справочник, то в списке типов данных появляются новые типы                  данных:                   </a:t>
            </a:r>
          </a:p>
          <a:p>
            <a:pPr marL="0" indent="442913" algn="just"/>
            <a:r>
              <a:rPr lang="ru-RU" b="1" dirty="0" err="1"/>
              <a:t>СправочникСсылка</a:t>
            </a:r>
            <a:r>
              <a:rPr lang="ru-RU" b="1" dirty="0"/>
              <a:t>.&lt;</a:t>
            </a:r>
            <a:r>
              <a:rPr lang="ru-RU" b="1" dirty="0" err="1"/>
              <a:t>ИмяСправочника</a:t>
            </a:r>
            <a:r>
              <a:rPr lang="ru-RU" b="1" dirty="0"/>
              <a:t>&gt;,</a:t>
            </a:r>
          </a:p>
          <a:p>
            <a:pPr marL="0" indent="442913" algn="just"/>
            <a:r>
              <a:rPr lang="ru-RU" b="1" dirty="0" err="1"/>
              <a:t>СправочникОбъект</a:t>
            </a:r>
            <a:r>
              <a:rPr lang="ru-RU" b="1" dirty="0"/>
              <a:t>.&lt;</a:t>
            </a:r>
            <a:r>
              <a:rPr lang="ru-RU" b="1" dirty="0" err="1"/>
              <a:t>ИмяСправочника</a:t>
            </a:r>
            <a:r>
              <a:rPr lang="ru-RU" b="1" dirty="0"/>
              <a:t>&gt;        и        </a:t>
            </a:r>
            <a:r>
              <a:rPr lang="ru-RU" b="1" dirty="0" err="1"/>
              <a:t>СправочникСписок</a:t>
            </a:r>
            <a:r>
              <a:rPr lang="ru-RU" b="1" dirty="0"/>
              <a:t>.&lt;</a:t>
            </a:r>
            <a:r>
              <a:rPr lang="ru-RU" b="1" dirty="0" err="1"/>
              <a:t>ИмяСправочника</a:t>
            </a:r>
            <a:r>
              <a:rPr lang="ru-RU" b="1" dirty="0"/>
              <a:t>&gt;. </a:t>
            </a:r>
          </a:p>
          <a:p>
            <a:pPr marL="0" indent="442913" algn="just"/>
            <a:endParaRPr lang="ru-RU" b="1" dirty="0"/>
          </a:p>
          <a:p>
            <a:pPr marL="0" indent="442913" algn="just"/>
            <a:r>
              <a:rPr lang="ru-RU" dirty="0"/>
              <a:t>Такие типы данных могут быть присвоены любому из типизированных объектов конфигурации.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214290"/>
            <a:ext cx="8208912" cy="6429420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Некоторые данные могут иметь </a:t>
            </a:r>
            <a:r>
              <a:rPr lang="ru-RU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составной тип</a:t>
            </a:r>
            <a:r>
              <a:rPr lang="ru-RU" dirty="0"/>
              <a:t>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Для этого в окне редактирования типа данных установите флажок Составной тип данных и укажите те типы, которые могут принимать данные. Кроме того, допускается выбор специального типа Любая ссылка.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При выборе типа данных реквизита система, помимо выбора типов, определенных в конкретном прикладном решении, предоставляет разработчику возможность выбирать наборы типов.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Наборами типов, например, являются </a:t>
            </a:r>
            <a:r>
              <a:rPr lang="ru-RU" b="1" dirty="0" err="1"/>
              <a:t>ЛюбаяСсылка</a:t>
            </a:r>
            <a:r>
              <a:rPr lang="ru-RU" b="1" dirty="0"/>
              <a:t>. </a:t>
            </a:r>
            <a:r>
              <a:rPr lang="ru-RU" b="1" dirty="0" err="1"/>
              <a:t>СправочникСсылка,Характеристика</a:t>
            </a:r>
            <a:r>
              <a:rPr lang="ru-RU" b="1" dirty="0"/>
              <a:t>.&lt;имя&gt; </a:t>
            </a:r>
            <a:r>
              <a:rPr lang="ru-RU" dirty="0"/>
              <a:t>и др.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16632"/>
            <a:ext cx="7772400" cy="72547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Форма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000108"/>
            <a:ext cx="8136904" cy="5643602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В самом общем случае форма как объект конфигурации состоит из следующих частей: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/>
            <a:r>
              <a:rPr lang="ru-RU" dirty="0"/>
              <a:t>экранный диалог, используемый для ввода и редактирования информации, хранящейся в объекте конфигурации;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модуль формы - программа на встроенном языке системы 1С. Модуль формы выполняет обработку вводимой в диалог информации для целей входного контроля, выполнения расчетов и т. д.;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список реквизитов объекта конфигурации.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Модуль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1000108"/>
            <a:ext cx="8064896" cy="5429288"/>
          </a:xfrm>
        </p:spPr>
        <p:txBody>
          <a:bodyPr>
            <a:normAutofit lnSpcReduction="10000"/>
          </a:bodyPr>
          <a:lstStyle/>
          <a:p>
            <a:pPr marL="0" indent="442913" algn="just"/>
            <a:r>
              <a:rPr lang="ru-RU" dirty="0"/>
              <a:t>Модулем называется программа на встроенном языке системы 1 С:Предприятие.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Модули располагаются в заданных точках структуры конфигурации и вызываются для выполнения в заранее известные моменты работы системы 1 С. </a:t>
            </a:r>
          </a:p>
          <a:p>
            <a:pPr marL="0" indent="442913" algn="just"/>
            <a:endParaRPr lang="ru-RU" dirty="0"/>
          </a:p>
          <a:p>
            <a:pPr marL="0" indent="442913" algn="just"/>
            <a:r>
              <a:rPr lang="ru-RU" dirty="0"/>
              <a:t>Специалист, выполняющий конфигурирование системы, может использовать модули для описания сложных алгоритмов взаимодействия объектов конфигурации, для которых недостаточно имеющихся в конфигураторе визуальных средств.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857232"/>
            <a:ext cx="8208912" cy="6000768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В конфигурации существует несколько видов модулей. Это: </a:t>
            </a:r>
          </a:p>
          <a:p>
            <a:pPr marL="0" lvl="1" indent="442913" algn="just"/>
            <a:r>
              <a:rPr lang="ru-RU" dirty="0"/>
              <a:t>модуль приложения, </a:t>
            </a:r>
          </a:p>
          <a:p>
            <a:pPr marL="0" lvl="1" indent="442913" algn="just"/>
            <a:r>
              <a:rPr lang="ru-RU" dirty="0"/>
              <a:t>модуль внешнего соединения, </a:t>
            </a:r>
          </a:p>
          <a:p>
            <a:pPr marL="0" lvl="1" indent="442913" algn="just"/>
            <a:r>
              <a:rPr lang="ru-RU" dirty="0"/>
              <a:t>общие модули, </a:t>
            </a:r>
          </a:p>
          <a:p>
            <a:pPr marL="0" lvl="1" indent="442913" algn="just"/>
            <a:r>
              <a:rPr lang="ru-RU" dirty="0"/>
              <a:t>модули форм, </a:t>
            </a:r>
          </a:p>
          <a:p>
            <a:pPr marL="0" lvl="1" indent="442913" algn="just"/>
            <a:r>
              <a:rPr lang="ru-RU" dirty="0"/>
              <a:t>модули объектов конфигурации (менеджеров значения констант, справочников, документов, планов видов характеристик, планов счетов, планов видов расчета, планов обмена, бизнес-процессов, задач, отчетов, обработок, наборов записей регистров).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5551"/>
            <a:ext cx="7772400" cy="1143000"/>
          </a:xfrm>
        </p:spPr>
        <p:txBody>
          <a:bodyPr/>
          <a:lstStyle/>
          <a:p>
            <a:pPr algn="ctr"/>
            <a:r>
              <a:rPr lang="ru-RU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Назначение модуля объекта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00034" y="1447800"/>
            <a:ext cx="8104414" cy="5053034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В этих модулях возможно объявление переменных, процедур и функций, которые будут доступны при работе с объектом извне во встроенном языке, дополняя контекст объекта.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В модулях объектов располагают процедуры обработки различных событий, например, ввода на основании.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Также в нем располагают различные процедуры, с помощью которых выполняются действия над объектом, инициированные вне данного объекта.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16632"/>
            <a:ext cx="7772400" cy="79690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Макет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980728"/>
            <a:ext cx="8064896" cy="4357718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Макетом в системе программ 1С  называется объект конфигурации, предназначенный для формирования печатных форм.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 rotWithShape="1">
          <a:blip r:embed="rId2"/>
          <a:srcRect t="1" b="14038"/>
          <a:stretch/>
        </p:blipFill>
        <p:spPr>
          <a:xfrm>
            <a:off x="132438" y="2348880"/>
            <a:ext cx="8879124" cy="412266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85732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Макеты могут быть следующего типа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1142960"/>
            <a:ext cx="8064896" cy="5715040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Табличный документ </a:t>
            </a:r>
            <a:r>
              <a:rPr lang="ru-RU" dirty="0"/>
              <a:t>- предполагает использование стандартной технологии создания и использования макетов. Подготовка макета производится с помощью табличного редактора. </a:t>
            </a:r>
          </a:p>
          <a:p>
            <a:pPr marL="0" indent="442913" algn="just">
              <a:buNone/>
            </a:pPr>
            <a:r>
              <a:rPr lang="ru-RU" dirty="0"/>
              <a:t>Это наиболее часто используемый тип макета.</a:t>
            </a:r>
          </a:p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Двоичные данные</a:t>
            </a:r>
            <a:r>
              <a:rPr lang="ru-RU" dirty="0"/>
              <a:t> - используются двоичные данные.</a:t>
            </a:r>
          </a:p>
          <a:p>
            <a:pPr marL="0" indent="442913" algn="just"/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Active</a:t>
            </a: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Document</a:t>
            </a:r>
            <a:r>
              <a:rPr lang="en-US" dirty="0"/>
              <a:t> </a:t>
            </a:r>
            <a:r>
              <a:rPr lang="ru-RU" dirty="0"/>
              <a:t>- предполагает использование технологии </a:t>
            </a:r>
            <a:r>
              <a:rPr lang="en-US" dirty="0"/>
              <a:t>OLE Active document.</a:t>
            </a:r>
          </a:p>
          <a:p>
            <a:pPr marL="0" indent="442913" algn="just"/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HTML</a:t>
            </a: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-документ </a:t>
            </a:r>
            <a:r>
              <a:rPr lang="ru-RU" dirty="0"/>
              <a:t>- предполагает использование редактора </a:t>
            </a:r>
            <a:r>
              <a:rPr lang="en-US" dirty="0"/>
              <a:t>HTML</a:t>
            </a:r>
            <a:r>
              <a:rPr lang="ru-RU" dirty="0"/>
              <a:t>-документа.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260648"/>
            <a:ext cx="8319868" cy="6311624"/>
          </a:xfrm>
        </p:spPr>
        <p:txBody>
          <a:bodyPr>
            <a:normAutofit fontScale="92500"/>
          </a:bodyPr>
          <a:lstStyle/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Текстовый документ </a:t>
            </a:r>
            <a:r>
              <a:rPr lang="ru-RU" dirty="0"/>
              <a:t>- предполагает использование текстового документа в качестве макета. Подготовка текстового макета производится с помощью редактора текстовых макетов.</a:t>
            </a:r>
          </a:p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Географическая схема </a:t>
            </a:r>
            <a:r>
              <a:rPr lang="ru-RU" dirty="0"/>
              <a:t>- предполагает использование географической схемы, подготовленной в редакторе географических схем, в качестве макета.</a:t>
            </a:r>
          </a:p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Графическая схема </a:t>
            </a:r>
            <a:r>
              <a:rPr lang="ru-RU" dirty="0"/>
              <a:t>- предполагает использование подготовленной в редакторе графической схемы.</a:t>
            </a:r>
          </a:p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Схема компоновки данных </a:t>
            </a:r>
            <a:r>
              <a:rPr lang="ru-RU" dirty="0"/>
              <a:t>- предполагает использование схемы компоновки данных, подготовленной в конструкторе.</a:t>
            </a:r>
          </a:p>
          <a:p>
            <a:pPr marL="0" indent="442913" algn="just"/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Макет оформления компоновки данных </a:t>
            </a:r>
            <a:r>
              <a:rPr lang="ru-RU" dirty="0"/>
              <a:t>- предполагает использование макета оформления системы компоновки данных.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07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4. Описание встроенного языка 1С</a:t>
            </a:r>
            <a:br>
              <a:rPr lang="ru-RU" b="1" dirty="0"/>
            </a:br>
            <a:endParaRPr lang="ru-RU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2376" y="764704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Назначение и краткая характеристика встроенного языка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92376" y="2420888"/>
            <a:ext cx="7772400" cy="2266952"/>
          </a:xfrm>
        </p:spPr>
        <p:txBody>
          <a:bodyPr>
            <a:noAutofit/>
          </a:bodyPr>
          <a:lstStyle/>
          <a:p>
            <a:pPr marL="0" indent="442913" algn="just">
              <a:buNone/>
            </a:pPr>
            <a:r>
              <a:rPr lang="ru-RU" dirty="0"/>
              <a:t>Встроенный язык представляет собой предметно-ориентированный язык программирования. Все операторы языка имеют как русское, так и англоязычное написание которые можно использовать одновременно в одном исходном тексте.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19621" y="1916832"/>
            <a:ext cx="8104758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just"/>
            <a:r>
              <a:rPr lang="ru-RU" sz="2600" dirty="0"/>
              <a:t>Типизация переменных в языке не жесткая, переменные не обязательно объявлять в явном виде. Неявным определением переменной является ее первое упоминание в левой части оператора присваивания. Возможно также явное объявление переменных при помощи соответствующего оператора. </a:t>
            </a:r>
          </a:p>
        </p:txBody>
      </p:sp>
    </p:spTree>
    <p:extLst>
      <p:ext uri="{BB962C8B-B14F-4D97-AF65-F5344CB8AC3E}">
        <p14:creationId xmlns:p14="http://schemas.microsoft.com/office/powerpoint/2010/main" val="1503152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Формат исходных текстов программных модулей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42898" y="1988840"/>
            <a:ext cx="8258204" cy="4481530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b="1" dirty="0"/>
              <a:t>Программный модуль </a:t>
            </a:r>
            <a:r>
              <a:rPr lang="ru-RU" dirty="0"/>
              <a:t>- это текст на встроенном языке, в котором размещены тексты процедур и функций с необходимыми алгоритмами, вызываемые системой во время работы системы в определенные моменты. Поэтому программный модуль не имеет формальных границ своего описания типа: «Начало модуля» - «Конец модуля».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4868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Контекст выполнения программного модуля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68058" y="1988840"/>
            <a:ext cx="7772400" cy="4572000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Каждый программный модуль связан с остальной частью конфигурации. Эта связь называется </a:t>
            </a:r>
            <a:r>
              <a:rPr lang="ru-RU" b="1" dirty="0"/>
              <a:t>контекстом выполнения модуля</a:t>
            </a:r>
            <a:r>
              <a:rPr lang="ru-RU" dirty="0"/>
              <a:t>. </a:t>
            </a:r>
          </a:p>
          <a:p>
            <a:pPr marL="0" indent="442913" algn="just">
              <a:buNone/>
            </a:pPr>
            <a:r>
              <a:rPr lang="ru-RU" dirty="0"/>
              <a:t>Следует различать два вида контекста:</a:t>
            </a:r>
          </a:p>
          <a:p>
            <a:pPr marL="0" indent="442913" algn="just">
              <a:buNone/>
            </a:pPr>
            <a:r>
              <a:rPr lang="ru-RU" dirty="0"/>
              <a:t>• глобальный контекст задачи;</a:t>
            </a:r>
          </a:p>
          <a:p>
            <a:pPr marL="0" indent="442913" algn="just">
              <a:buNone/>
            </a:pPr>
            <a:r>
              <a:rPr lang="ru-RU" dirty="0"/>
              <a:t>• локальный контекст выполнения конкретного модуля.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Глобальный контекст образуется: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5800" y="1268760"/>
            <a:ext cx="7772400" cy="4838720"/>
          </a:xfrm>
        </p:spPr>
        <p:txBody>
          <a:bodyPr>
            <a:normAutofit lnSpcReduction="10000"/>
          </a:bodyPr>
          <a:lstStyle/>
          <a:p>
            <a:pPr marL="0" indent="442913" algn="just"/>
            <a:r>
              <a:rPr lang="ru-RU" dirty="0"/>
              <a:t>значениями свойств и методов глобального контекста;</a:t>
            </a:r>
          </a:p>
          <a:p>
            <a:pPr marL="0" indent="442913" algn="just"/>
            <a:r>
              <a:rPr lang="ru-RU" dirty="0"/>
              <a:t>функциями встроенного языка и языковыми конструкциями;</a:t>
            </a:r>
          </a:p>
          <a:p>
            <a:pPr marL="0" indent="442913" algn="just"/>
            <a:r>
              <a:rPr lang="ru-RU" dirty="0"/>
              <a:t>переменными, процедурами и функциями глобального программного модуля и общих модулей, объявленными с ключевым словом Экспорт.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Глобальный контекст виден всем программным модулям и определяет общую языковую среду конфигурации.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143000"/>
          </a:xfrm>
        </p:spPr>
        <p:txBody>
          <a:bodyPr/>
          <a:lstStyle/>
          <a:p>
            <a:pPr algn="ctr"/>
            <a:r>
              <a:rPr lang="ru-RU" dirty="0"/>
              <a:t>Локальный контекст модуля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5800" y="1844824"/>
            <a:ext cx="7772400" cy="4162436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Локальный контекст модуля образуется тем конкретным местом конфигурации задачи, для которого использован программный модуль.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Локальный контекст виден только конкретному программному модулю и определяет для модуля набор непосредственно доступных модулю объектов, их свойств и методов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147248" cy="3154362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/>
              <a:t>Виды программных модулей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5800" y="3429000"/>
            <a:ext cx="7772400" cy="2305048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В системе 1C:Предприятие существуют несколько видов программных модулей. Они различаются по месту размещения и доступному контексту.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5852" y="142852"/>
            <a:ext cx="6357982" cy="58259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Общие модули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857232"/>
            <a:ext cx="8208912" cy="5715040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Общие модули располагаются в отдельной ветке дерева метаданных. Основным назначением общих модулей является содержание общих алгоритмов конфигурации, доступных из разных модулей. </a:t>
            </a:r>
          </a:p>
          <a:p>
            <a:pPr marL="0" indent="442913" algn="just"/>
            <a:r>
              <a:rPr lang="ru-RU" dirty="0"/>
              <a:t>В общих модулях отсутствует раздел определения переменных и раздел основной программы, то есть они содержат только раздел процедур и функций.</a:t>
            </a:r>
          </a:p>
          <a:p>
            <a:pPr marL="0" indent="442913" algn="just"/>
            <a:r>
              <a:rPr lang="ru-RU" dirty="0"/>
              <a:t>В любом общем модуле возможно объявление и описание процедур и функций, которые будут доступны в любом модуле конфигурации, кроме других общих модулей, дополняя глобальный контекст прикладной задачи.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04664"/>
            <a:ext cx="7772400" cy="854968"/>
          </a:xfrm>
        </p:spPr>
        <p:txBody>
          <a:bodyPr/>
          <a:lstStyle/>
          <a:p>
            <a:pPr algn="ctr"/>
            <a:r>
              <a:rPr lang="ru-RU" dirty="0"/>
              <a:t>Глобальный модуль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714488"/>
            <a:ext cx="8219256" cy="4124340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Глобальный модуль располагается в корневом разделе конфигурации. В нем располагаются процедуры-обработчики событий, которые инициализируются при старте и окончании работы системы. В глобальном модуле возможно объявление переменных, а также объявление и описание процедур и функций, которые будут доступны в любом модуле конфигурации, кроме общих, дополняя глобальный контекст прикладной задачи.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2"/>
          <p:cNvSpPr txBox="1">
            <a:spLocks/>
          </p:cNvSpPr>
          <p:nvPr/>
        </p:nvSpPr>
        <p:spPr>
          <a:xfrm>
            <a:off x="683568" y="1484784"/>
            <a:ext cx="7920880" cy="41243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indent="442913" algn="just">
              <a:buNone/>
            </a:pPr>
            <a:r>
              <a:rPr lang="ru-RU" sz="2800" dirty="0"/>
              <a:t>Существует набор правил взаимодействия глобального модуля и общих модулей:</a:t>
            </a:r>
          </a:p>
          <a:p>
            <a:pPr indent="442913" algn="just">
              <a:buNone/>
            </a:pPr>
            <a:r>
              <a:rPr lang="ru-RU" sz="2800" dirty="0"/>
              <a:t>• в общих модулях недоступны переменные, процедуры и функции, объявленные в глобальном модуле с ключевым словом Экспорт;</a:t>
            </a:r>
          </a:p>
          <a:p>
            <a:pPr indent="442913" algn="just">
              <a:buNone/>
            </a:pPr>
            <a:r>
              <a:rPr lang="ru-RU" sz="2800" dirty="0"/>
              <a:t>• в глобальном модуле доступны процедуры и функции, объявленные в общих модулях с ключевым словом Экспорт;</a:t>
            </a:r>
          </a:p>
          <a:p>
            <a:endParaRPr lang="ru-RU" sz="2800" dirty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4518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1519" y="285732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Модули прикладных объектов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57158" y="857232"/>
            <a:ext cx="8501122" cy="5786478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Набор прикладных объектов имеет собственные модули. К таким объектам относятся:</a:t>
            </a:r>
          </a:p>
          <a:p>
            <a:pPr marL="0" indent="442913" algn="just">
              <a:buNone/>
            </a:pPr>
            <a:r>
              <a:rPr lang="ru-RU" dirty="0"/>
              <a:t>• справочники;</a:t>
            </a:r>
          </a:p>
          <a:p>
            <a:pPr marL="0" indent="442913" algn="just">
              <a:buNone/>
            </a:pPr>
            <a:r>
              <a:rPr lang="ru-RU" dirty="0"/>
              <a:t>• документы;</a:t>
            </a:r>
          </a:p>
          <a:p>
            <a:pPr marL="0" indent="442913" algn="just">
              <a:buNone/>
            </a:pPr>
            <a:r>
              <a:rPr lang="ru-RU" dirty="0"/>
              <a:t>• отчеты;</a:t>
            </a:r>
          </a:p>
          <a:p>
            <a:pPr marL="0" indent="442913" algn="just">
              <a:buNone/>
            </a:pPr>
            <a:r>
              <a:rPr lang="ru-RU" dirty="0"/>
              <a:t>• обработки.</a:t>
            </a:r>
          </a:p>
          <a:p>
            <a:pPr marL="0" indent="442913" algn="just">
              <a:buNone/>
            </a:pPr>
            <a:r>
              <a:rPr lang="ru-RU" dirty="0"/>
              <a:t>Модули располагаются в ветках конфигурации, в которых содержатся сами объекты и являются свойствами объектов. Каждый объект имеет свой индивидуальный модуль. В этих модулях возможно объявление переменных, процедур и функций, которые будут доступны при работе с объектом извне во встроенном языке, дополняя контекст объекта.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402016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Модули форм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755576" y="1447800"/>
            <a:ext cx="7704856" cy="4572000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Эти модули содержатся в формах конфигурации. </a:t>
            </a:r>
          </a:p>
          <a:p>
            <a:pPr marL="0" indent="442913" algn="just">
              <a:buNone/>
            </a:pPr>
            <a:r>
              <a:rPr lang="ru-RU" dirty="0"/>
              <a:t>Каждая форма имеет свой индивидуальный модуль. </a:t>
            </a:r>
          </a:p>
          <a:p>
            <a:pPr marL="0" indent="442913" algn="just">
              <a:buNone/>
            </a:pPr>
            <a:r>
              <a:rPr lang="ru-RU" dirty="0"/>
              <a:t>В этих модулях возможно объявление переменных, процедур и функций, которые будут доступны при работе с формой извне во встроенном языке, дополняя контекст формы.</a:t>
            </a:r>
          </a:p>
          <a:p>
            <a:pPr marL="0" indent="442913" algn="just"/>
            <a:endParaRPr lang="ru-RU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Формат программного модуля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2214554"/>
            <a:ext cx="7772400" cy="3805246"/>
          </a:xfrm>
        </p:spPr>
        <p:txBody>
          <a:bodyPr/>
          <a:lstStyle/>
          <a:p>
            <a:pPr marL="0" indent="442913" algn="just"/>
            <a:r>
              <a:rPr lang="ru-RU" dirty="0"/>
              <a:t>Исходный текст программного модуля может состоять из операторов и комментариев.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23920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Комментарии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2877" y="1474884"/>
            <a:ext cx="8358246" cy="5357850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В тексте программного модуля комментарий начинается парой символов "//" и заканчивается концом строки. </a:t>
            </a:r>
          </a:p>
          <a:p>
            <a:pPr marL="0" indent="442913" algn="just">
              <a:buNone/>
            </a:pPr>
            <a:r>
              <a:rPr lang="ru-RU" dirty="0"/>
              <a:t>Пример:</a:t>
            </a:r>
          </a:p>
          <a:p>
            <a:pPr marL="0" indent="442913" algn="just">
              <a:buNone/>
            </a:pPr>
            <a:r>
              <a:rPr lang="ru-RU" dirty="0"/>
              <a:t>А=В; // Это - комментарий // Это тоже комментарий</a:t>
            </a:r>
          </a:p>
          <a:p>
            <a:pPr marL="0" indent="442913" algn="just"/>
            <a:endParaRPr lang="ru-RU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554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Формат операторов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071546"/>
            <a:ext cx="8291264" cy="5286412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Операторы имеют вид стандартного обращения к процедуре, за исключением оператора присваивания (А = В;) и синтаксических конструкций встроенного языка (например, таких как Для, Пока, Если). </a:t>
            </a:r>
          </a:p>
          <a:p>
            <a:pPr marL="0" indent="442913" algn="just">
              <a:buNone/>
            </a:pPr>
            <a:r>
              <a:rPr lang="ru-RU" dirty="0"/>
              <a:t>Между собой операторы обязательно следует разделять символом ";" (точкой с запятой). </a:t>
            </a:r>
          </a:p>
          <a:p>
            <a:pPr marL="0" indent="442913" algn="just">
              <a:buNone/>
            </a:pPr>
            <a:r>
              <a:rPr lang="ru-RU" dirty="0"/>
              <a:t>Конец строки не является признаком конца оператора.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214290"/>
            <a:ext cx="8280920" cy="6429420"/>
          </a:xfrm>
        </p:spPr>
        <p:txBody>
          <a:bodyPr>
            <a:normAutofit fontScale="92500"/>
          </a:bodyPr>
          <a:lstStyle/>
          <a:p>
            <a:pPr marL="0" indent="442913" algn="just">
              <a:buNone/>
            </a:pPr>
            <a:r>
              <a:rPr lang="ru-RU" dirty="0"/>
              <a:t>Операторы языка в программном модуле можно подразделить на две категории: </a:t>
            </a:r>
            <a:r>
              <a:rPr lang="ru-RU" b="1" dirty="0"/>
              <a:t>операторы объявления переменных и исполняемые операторы</a:t>
            </a:r>
            <a:r>
              <a:rPr lang="ru-RU" dirty="0"/>
              <a:t>. </a:t>
            </a:r>
          </a:p>
          <a:p>
            <a:pPr marL="0" indent="442913" algn="just">
              <a:buNone/>
            </a:pPr>
            <a:r>
              <a:rPr lang="ru-RU" dirty="0"/>
              <a:t>Любой исполняемый оператор может иметь метку, используемую в качестве точки перехода в операторе Перейти.</a:t>
            </a:r>
          </a:p>
          <a:p>
            <a:pPr marL="0" indent="442913" algn="just">
              <a:buNone/>
            </a:pPr>
            <a:r>
              <a:rPr lang="ru-RU" dirty="0"/>
              <a:t>В общем случае формат оператора языка следующий:</a:t>
            </a:r>
          </a:p>
          <a:p>
            <a:pPr marL="0" indent="442913" algn="just">
              <a:buNone/>
            </a:pPr>
            <a:r>
              <a:rPr lang="ru-RU" dirty="0"/>
              <a:t>-метка: Оператор[(параметры) ] [</a:t>
            </a:r>
            <a:r>
              <a:rPr lang="ru-RU" dirty="0" err="1"/>
              <a:t>ДобключевоеСлово</a:t>
            </a:r>
            <a:r>
              <a:rPr lang="ru-RU" dirty="0"/>
              <a:t>];</a:t>
            </a:r>
          </a:p>
          <a:p>
            <a:pPr marL="0" indent="442913" algn="just">
              <a:buNone/>
            </a:pPr>
            <a:r>
              <a:rPr lang="ru-RU" dirty="0"/>
              <a:t>В качестве меток используются специальные идентификаторы, начинающиеся с символа '~' (тильда) и состоящие из последова­тельности букв, цифр и символов '_' (подчеркивание). Чтобы пометить оператор, надо поместить перед ним метку и следующий за ней символ ":".</a:t>
            </a:r>
          </a:p>
          <a:p>
            <a:pPr marL="0" indent="442913" algn="just">
              <a:buNone/>
            </a:pPr>
            <a:r>
              <a:rPr lang="ru-RU" dirty="0"/>
              <a:t>Пример:</a:t>
            </a:r>
          </a:p>
          <a:p>
            <a:pPr marL="0" indent="442913" algn="just">
              <a:buNone/>
            </a:pPr>
            <a:r>
              <a:rPr lang="ru-RU" dirty="0"/>
              <a:t>~</a:t>
            </a:r>
            <a:r>
              <a:rPr lang="ru-RU" dirty="0" err="1"/>
              <a:t>метка:А</a:t>
            </a:r>
            <a:r>
              <a:rPr lang="ru-RU" dirty="0"/>
              <a:t>=В;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Имена переменных, процедур и функций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57158" y="1447800"/>
            <a:ext cx="8329642" cy="4572000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Именем переменной, объявленной процедуры или функции, может быть любая последовательность букв, цифр и знаков подчеркивания "_", начинающаяся с буквы или знака подчеркивания "_". </a:t>
            </a:r>
          </a:p>
          <a:p>
            <a:pPr marL="0" indent="442913" algn="just">
              <a:buNone/>
            </a:pPr>
            <a:r>
              <a:rPr lang="ru-RU" dirty="0"/>
              <a:t>Вновь создаваемые имена не должны совпадать с зарезервированными словами языка или именами свойств, непосредственно доступных в текущем контексте. </a:t>
            </a:r>
          </a:p>
          <a:p>
            <a:pPr marL="0" indent="442913" algn="just">
              <a:buNone/>
            </a:pPr>
            <a:r>
              <a:rPr lang="ru-RU" dirty="0"/>
              <a:t>Распознавание имен переменных, процедур и функций ведется без учета регистра букв.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00125" y="1000125"/>
          <a:ext cx="7000875" cy="4932369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Если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If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Date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Тогда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Then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Формат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Format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ИначеЕсли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Elsif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СтрДлина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StrLen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Разм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Dim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Иначе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Else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СокрЛ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TrimL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Вопрос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 Query Box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КонецЕсли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Endlf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СокрП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TrimR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Контекст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Context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Цикл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Лев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Left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Перем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Var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Для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Прав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Right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Перейти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Goto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Mid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Возврат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Return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Пока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While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Цел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Продолжить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Continue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Функция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Окр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Round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Прервать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Break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КонецПроцедуры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EndProcedure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КонецФункции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EndFunction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Строка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Или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Предупреждение</a:t>
                      </a: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DoMessageBox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КонецЦикла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EndDo</a:t>
                      </a:r>
                      <a:endParaRPr kumimoji="0" 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Процедура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Procedure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400" marR="2540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347" name="Rectangle 1"/>
          <p:cNvSpPr>
            <a:spLocks noChangeArrowheads="1"/>
          </p:cNvSpPr>
          <p:nvPr/>
        </p:nvSpPr>
        <p:spPr bwMode="auto">
          <a:xfrm>
            <a:off x="1928813" y="285750"/>
            <a:ext cx="50355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Зарезервированные слова</a:t>
            </a:r>
            <a:endParaRPr lang="ru-RU" altLang="ru-RU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659967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Структура программного модуля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1628800"/>
            <a:ext cx="7992888" cy="3286148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Структуру программного модуля можно подразделить на следующие разделы:</a:t>
            </a:r>
          </a:p>
          <a:p>
            <a:pPr marL="0" indent="442913" algn="just"/>
            <a:r>
              <a:rPr lang="ru-RU" dirty="0"/>
              <a:t>раздел определения переменных;</a:t>
            </a:r>
          </a:p>
          <a:p>
            <a:pPr marL="0" indent="442913" algn="just"/>
            <a:r>
              <a:rPr lang="ru-RU" dirty="0"/>
              <a:t>раздел процедур и функций;</a:t>
            </a:r>
          </a:p>
          <a:p>
            <a:pPr marL="0" indent="442913" algn="just"/>
            <a:r>
              <a:rPr lang="ru-RU" dirty="0"/>
              <a:t>раздел основной программы.</a:t>
            </a:r>
          </a:p>
          <a:p>
            <a:pPr marL="0" indent="442913" algn="just">
              <a:buNone/>
            </a:pPr>
            <a:r>
              <a:rPr lang="ru-RU" dirty="0"/>
              <a:t>В конкретном программном модуле любой из разделов может отсутствовать.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611560" y="3645024"/>
            <a:ext cx="803275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58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объявления переменной</a:t>
            </a:r>
          </a:p>
          <a:p>
            <a:pPr algn="ctr"/>
            <a:r>
              <a:rPr lang="ru-RU" altLang="ru-RU" sz="2000" b="1" dirty="0">
                <a:cs typeface="Times New Roman" panose="02020603050405020304" pitchFamily="18" charset="0"/>
              </a:rPr>
              <a:t>Синтаксис:</a:t>
            </a:r>
            <a:r>
              <a:rPr lang="ru-RU" altLang="ru-RU" sz="2000" b="1" dirty="0">
                <a:latin typeface="Century Schoolbook" panose="02040604050505020304" pitchFamily="18" charset="0"/>
                <a:cs typeface="Times New Roman" panose="02020603050405020304" pitchFamily="18" charset="0"/>
              </a:rPr>
              <a:t>	</a:t>
            </a:r>
            <a:endParaRPr lang="ru-RU" altLang="ru-RU" sz="2000" dirty="0">
              <a:latin typeface="Century Schoolbook" panose="02040604050505020304" pitchFamily="18" charset="0"/>
            </a:endParaRPr>
          </a:p>
          <a:p>
            <a:r>
              <a:rPr lang="ru-RU" altLang="ru-RU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Перем</a:t>
            </a:r>
            <a:r>
              <a:rPr lang="ru-RU" altLang="ru-RU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</a:t>
            </a:r>
            <a:r>
              <a:rPr lang="ru-RU" altLang="ru-RU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Имя_переменной</a:t>
            </a:r>
            <a:r>
              <a:rPr lang="ru-RU" altLang="ru-RU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[[&lt;Размерность&gt;]] [Экспорт];</a:t>
            </a:r>
            <a:endParaRPr lang="ru-RU" altLang="ru-RU" sz="2000" dirty="0">
              <a:latin typeface="Century Schoolbook" panose="02040604050505020304" pitchFamily="18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547664" y="5229200"/>
            <a:ext cx="4800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b="1">
                <a:latin typeface="Century Schoolbook" panose="02040604050505020304" pitchFamily="18" charset="0"/>
                <a:cs typeface="Times New Roman" panose="02020603050405020304" pitchFamily="18" charset="0"/>
              </a:rPr>
              <a:t>Пример:</a:t>
            </a:r>
            <a:endParaRPr lang="ru-RU" altLang="ru-RU" sz="2000">
              <a:latin typeface="Century Schoolbook" panose="02040604050505020304" pitchFamily="18" charset="0"/>
            </a:endParaRPr>
          </a:p>
          <a:p>
            <a:r>
              <a:rPr lang="ru-RU" altLang="ru-RU" sz="200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Перем Очень_Нужная_Переменная;</a:t>
            </a:r>
            <a:endParaRPr lang="ru-RU" altLang="ru-RU" sz="2000"/>
          </a:p>
          <a:p>
            <a:r>
              <a:rPr lang="ru-RU" altLang="ru-RU" sz="2000">
                <a:latin typeface="Courier New" panose="02070309020205020404" pitchFamily="49" charset="0"/>
                <a:cs typeface="Times New Roman" panose="02020603050405020304" pitchFamily="18" charset="0"/>
              </a:rPr>
              <a:t>Перем Массив_Для_Хранения[10];</a:t>
            </a:r>
            <a:endParaRPr lang="ru-RU" altLang="ru-RU" sz="2000">
              <a:latin typeface="Century Schoolbook" panose="02040604050505020304" pitchFamily="18" charset="0"/>
            </a:endParaRP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740945" y="416006"/>
            <a:ext cx="8401080" cy="307183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r>
              <a:rPr lang="ru-RU" sz="2800" b="1" dirty="0"/>
              <a:t>Раздел определения переменных </a:t>
            </a:r>
            <a:r>
              <a:rPr lang="ru-RU" sz="2800" dirty="0"/>
              <a:t>размещается от начала текста модуля до первого оператора Процедура или оператора Функция или любого исполняемого оператора. В этом разделе могут находиться только операторы объявления переменных </a:t>
            </a:r>
            <a:r>
              <a:rPr lang="ru-RU" sz="2800" dirty="0" err="1"/>
              <a:t>Перем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95132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2"/>
          <p:cNvSpPr txBox="1">
            <a:spLocks/>
          </p:cNvSpPr>
          <p:nvPr/>
        </p:nvSpPr>
        <p:spPr>
          <a:xfrm>
            <a:off x="395536" y="2132856"/>
            <a:ext cx="7920880" cy="3714776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indent="442913" algn="just"/>
            <a:r>
              <a:rPr lang="ru-RU" sz="2800" b="1" dirty="0"/>
              <a:t>Раздел основной программы </a:t>
            </a:r>
            <a:r>
              <a:rPr lang="ru-RU" sz="2800" dirty="0"/>
              <a:t>размещается от первого исполняемого оператора вне тела процедур или функций до конца модуля. В этом разделе могут находиться только исполняемые операторы. </a:t>
            </a:r>
          </a:p>
          <a:p>
            <a:pPr indent="442913" algn="just"/>
            <a:r>
              <a:rPr lang="ru-RU" sz="2800" dirty="0"/>
              <a:t>Раздел основной программы исполняется в момент инициализации модуля. Обычно в разделе основной программы имеет смысл размещать операторы инициализации переменных какими-либо конкретными значениями, которые необходимо провести до первого вызова любой из процедур или функций модуля.</a:t>
            </a:r>
          </a:p>
          <a:p>
            <a:endParaRPr lang="ru-RU" sz="2800" dirty="0"/>
          </a:p>
        </p:txBody>
      </p:sp>
      <p:sp>
        <p:nvSpPr>
          <p:cNvPr id="3" name="Содержимое 2"/>
          <p:cNvSpPr txBox="1">
            <a:spLocks/>
          </p:cNvSpPr>
          <p:nvPr/>
        </p:nvSpPr>
        <p:spPr>
          <a:xfrm>
            <a:off x="371460" y="332656"/>
            <a:ext cx="8401080" cy="150022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indent="442913" algn="just">
              <a:lnSpc>
                <a:spcPct val="110000"/>
              </a:lnSpc>
            </a:pPr>
            <a:r>
              <a:rPr lang="ru-RU" sz="2600" b="1" dirty="0"/>
              <a:t>Раздел процедур и функций </a:t>
            </a:r>
            <a:r>
              <a:rPr lang="ru-RU" sz="2600" dirty="0"/>
              <a:t>размещается от первого оператора Процедура или оператора Функция до любого исполняемого оператора вне тела описания процедур или функций.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115751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4438" y="0"/>
            <a:ext cx="7199312" cy="6811963"/>
          </a:xfrm>
          <a:noFill/>
        </p:spPr>
      </p:pic>
    </p:spTree>
    <p:extLst>
      <p:ext uri="{BB962C8B-B14F-4D97-AF65-F5344CB8AC3E}">
        <p14:creationId xmlns:p14="http://schemas.microsoft.com/office/powerpoint/2010/main" val="33345088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571500"/>
            <a:ext cx="714375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4143375"/>
            <a:ext cx="62484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31077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714375"/>
            <a:ext cx="5438775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3571875"/>
            <a:ext cx="581025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1349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49275"/>
            <a:ext cx="837247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94602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Специальные символы, используемые в исходном тексте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1447800"/>
            <a:ext cx="8258204" cy="5124472"/>
          </a:xfrm>
        </p:spPr>
        <p:txBody>
          <a:bodyPr>
            <a:normAutofit fontScale="92500" lnSpcReduction="10000"/>
          </a:bodyPr>
          <a:lstStyle/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// </a:t>
            </a:r>
            <a:r>
              <a:rPr lang="ru-RU" dirty="0"/>
              <a:t>Двумя знаками «косая черта» начинается комментарий. Комментарием считается весь текст от знака "//" до конца текущей строки.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| </a:t>
            </a:r>
            <a:r>
              <a:rPr lang="ru-RU" dirty="0"/>
              <a:t>Вертикальная черта в начале строки используется только в строковых константах и означает, что данная строка является продолжением предыдущей (перенос строки).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~ </a:t>
            </a:r>
            <a:r>
              <a:rPr lang="ru-RU" dirty="0"/>
              <a:t>Знаком тильда начинается метка оператора.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: </a:t>
            </a:r>
            <a:r>
              <a:rPr lang="ru-RU" dirty="0"/>
              <a:t>Двоеточием заканчивается метка оператора.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; </a:t>
            </a:r>
            <a:r>
              <a:rPr lang="ru-RU" dirty="0"/>
              <a:t>Точка с запятой является символом разделения операторов.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() </a:t>
            </a:r>
            <a:r>
              <a:rPr lang="ru-RU" dirty="0"/>
              <a:t>В круглые скобки заключается список параметров методов, процедур, функций и конструкторов. Также они используются в выражениях встроенного языка.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Специальные символы, используемые в исходном тексте</a:t>
            </a:r>
            <a:endParaRPr lang="ru-RU" dirty="0"/>
          </a:p>
        </p:txBody>
      </p:sp>
      <p:sp>
        <p:nvSpPr>
          <p:cNvPr id="4" name="Содержимое 2"/>
          <p:cNvSpPr txBox="1">
            <a:spLocks noGrp="1"/>
          </p:cNvSpPr>
          <p:nvPr>
            <p:ph sz="quarter" idx="1"/>
          </p:nvPr>
        </p:nvSpPr>
        <p:spPr>
          <a:xfrm>
            <a:off x="683568" y="1484784"/>
            <a:ext cx="7772400" cy="4572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pPr marL="0" indent="442913" algn="just">
              <a:buNone/>
            </a:pPr>
            <a:r>
              <a:rPr lang="ru-RU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[]</a:t>
            </a:r>
            <a:r>
              <a:rPr lang="ru-RU" sz="2800" dirty="0"/>
              <a:t> С помощью оператора «квадратные скобки» производится обращение к свойствам объекта по строковому представлению имени свойства. Также возможно обращение к элементам коллекций по индексу или Другому параметру. </a:t>
            </a:r>
          </a:p>
          <a:p>
            <a:pPr marL="0" indent="442913" algn="just">
              <a:buNone/>
            </a:pPr>
            <a:r>
              <a:rPr lang="ru-RU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,</a:t>
            </a:r>
            <a:r>
              <a:rPr lang="ru-RU" sz="2800" dirty="0"/>
              <a:t> Запятая разделяет параметры в списке параметров методов, процедур, функций и конструкторов. </a:t>
            </a:r>
          </a:p>
          <a:p>
            <a:pPr marL="0" indent="442913" algn="just">
              <a:buNone/>
            </a:pPr>
            <a:r>
              <a:rPr lang="ru-RU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"" </a:t>
            </a:r>
            <a:r>
              <a:rPr lang="ru-RU" sz="2800" dirty="0"/>
              <a:t>В двойные кавычки заключаются строковые литералы. В одинарные кавычки заключаются литералы даты. </a:t>
            </a:r>
          </a:p>
          <a:p>
            <a:pPr marL="0" indent="442913" algn="just">
              <a:buNone/>
            </a:pPr>
            <a:r>
              <a:rPr lang="ru-RU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 </a:t>
            </a:r>
            <a:r>
              <a:rPr lang="ru-RU" sz="2800" dirty="0"/>
              <a:t>Десятичная точка в числовых литералах. Разделитель, используемый для обращения к свойствам и методам объектов встроенного языка.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214290"/>
            <a:ext cx="7848872" cy="6500858"/>
          </a:xfrm>
        </p:spPr>
        <p:txBody>
          <a:bodyPr>
            <a:normAutofit fontScale="92500" lnSpcReduction="10000"/>
          </a:bodyPr>
          <a:lstStyle/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+ </a:t>
            </a:r>
            <a:r>
              <a:rPr lang="ru-RU" dirty="0"/>
              <a:t>Символ «плюс» обозначает операцию сложения и конкатенации.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 </a:t>
            </a:r>
            <a:r>
              <a:rPr lang="ru-RU" dirty="0"/>
              <a:t>Символ «минус» обозначает операцию вычитания.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* </a:t>
            </a:r>
            <a:r>
              <a:rPr lang="ru-RU" dirty="0"/>
              <a:t>Символ «звездочка» обозначает операцию умножения.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/ </a:t>
            </a:r>
            <a:r>
              <a:rPr lang="ru-RU" dirty="0"/>
              <a:t>Символ «косая черта» обозначает операцию деления.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&gt; </a:t>
            </a:r>
            <a:r>
              <a:rPr lang="ru-RU" dirty="0"/>
              <a:t>Правая угловая скобка обозначает логическую операцию «больше».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&gt;= </a:t>
            </a:r>
            <a:r>
              <a:rPr lang="ru-RU" dirty="0"/>
              <a:t>Логическая операция «больше или равно».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&lt; </a:t>
            </a:r>
            <a:r>
              <a:rPr lang="ru-RU" dirty="0"/>
              <a:t>Левая угловая скобка обозначает логическую операцию «меньше».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&lt;= </a:t>
            </a:r>
            <a:r>
              <a:rPr lang="ru-RU" dirty="0"/>
              <a:t>Логическая операция «меньше или равно».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= </a:t>
            </a:r>
            <a:r>
              <a:rPr lang="ru-RU" dirty="0"/>
              <a:t>Знак равенства обозначает присвоение или логическую операцию «равно». </a:t>
            </a:r>
          </a:p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&lt;&gt; </a:t>
            </a:r>
            <a:r>
              <a:rPr lang="ru-RU" dirty="0"/>
              <a:t>Две угловые скобки обозначают логическую операцию «не равно».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Примитивные типы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8276456" cy="4572000"/>
          </a:xfrm>
        </p:spPr>
        <p:txBody>
          <a:bodyPr/>
          <a:lstStyle/>
          <a:p>
            <a:pPr marL="0" indent="442913" algn="just"/>
            <a:r>
              <a:rPr lang="ru-RU" sz="2400" dirty="0"/>
              <a:t>Значения данного типа используются исключительно для определения отсутствующего значения при работе с базой данных, например, при соединении таблиц.</a:t>
            </a:r>
          </a:p>
          <a:p>
            <a:pPr marL="0" indent="442913" algn="just">
              <a:buNone/>
            </a:pPr>
            <a:r>
              <a:rPr lang="ru-RU" sz="2400" i="1" dirty="0"/>
              <a:t>Литерал</a:t>
            </a:r>
            <a:r>
              <a:rPr lang="ru-RU" sz="2400" dirty="0"/>
              <a:t>:</a:t>
            </a:r>
          </a:p>
          <a:p>
            <a:pPr marL="0" indent="442913" algn="just"/>
            <a:r>
              <a:rPr lang="en-US" sz="2400" dirty="0"/>
              <a:t>Null</a:t>
            </a:r>
          </a:p>
          <a:p>
            <a:pPr>
              <a:buNone/>
            </a:pPr>
            <a:endParaRPr lang="ru-RU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331640" y="892744"/>
            <a:ext cx="13901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/>
              <a:t>1.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Null</a:t>
            </a:r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115616" y="3650614"/>
            <a:ext cx="3834704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ru-RU"/>
            </a:defPPr>
            <a:lvl1pPr>
              <a:defRPr sz="3200" b="1"/>
            </a:lvl1pPr>
          </a:lstStyle>
          <a:p>
            <a:r>
              <a:rPr lang="ru-RU" dirty="0"/>
              <a:t>2. Булево (</a:t>
            </a:r>
            <a:r>
              <a:rPr lang="en-US" dirty="0"/>
              <a:t>Boolean)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64036" y="4318564"/>
            <a:ext cx="8204448" cy="2385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just"/>
            <a:r>
              <a:rPr lang="ru-RU" sz="2400" dirty="0"/>
              <a:t>Значения данного типа имеют два значения </a:t>
            </a:r>
            <a:r>
              <a:rPr lang="ru-RU" sz="2400" b="1" dirty="0"/>
              <a:t>Истина</a:t>
            </a:r>
            <a:r>
              <a:rPr lang="ru-RU" sz="2400" dirty="0"/>
              <a:t> и </a:t>
            </a:r>
            <a:r>
              <a:rPr lang="ru-RU" sz="2400" b="1" dirty="0"/>
              <a:t>Ложь</a:t>
            </a:r>
            <a:r>
              <a:rPr lang="ru-RU" sz="2400" dirty="0"/>
              <a:t>, задаваемых соответствующими литералами. </a:t>
            </a:r>
          </a:p>
          <a:p>
            <a:pPr indent="442913" algn="just"/>
            <a:r>
              <a:rPr lang="ru-RU" sz="2400" dirty="0"/>
              <a:t>Значения данного типа возвращаются в качестве результата вычисления логических выражений.</a:t>
            </a:r>
            <a:endParaRPr lang="ru-RU" sz="2400" i="1" dirty="0"/>
          </a:p>
          <a:p>
            <a:pPr indent="442913" algn="just">
              <a:buNone/>
            </a:pPr>
            <a:r>
              <a:rPr lang="ru-RU" sz="2400" i="1" dirty="0"/>
              <a:t>Литералы:</a:t>
            </a:r>
          </a:p>
          <a:p>
            <a:pPr indent="442913" algn="just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ru-RU" sz="2400" dirty="0"/>
              <a:t>Истина(</a:t>
            </a:r>
            <a:r>
              <a:rPr lang="en-US" sz="2400" dirty="0"/>
              <a:t>True) </a:t>
            </a:r>
            <a:r>
              <a:rPr lang="ru-RU" sz="2400" dirty="0"/>
              <a:t>Ложь (</a:t>
            </a:r>
            <a:r>
              <a:rPr lang="en-US" sz="2400" dirty="0"/>
              <a:t>False)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04664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Примечание: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1447800"/>
            <a:ext cx="8075240" cy="4572000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В операциях сравнения встроенного языка используются логические выражения.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Это означает, что в выражении сравнения не обязательно писать</a:t>
            </a:r>
          </a:p>
          <a:p>
            <a:pPr marL="0" indent="442913" algn="just">
              <a:buNone/>
            </a:pPr>
            <a:r>
              <a:rPr lang="ru-RU" i="1" dirty="0"/>
              <a:t>Если </a:t>
            </a:r>
            <a:r>
              <a:rPr lang="ru-RU" i="1" dirty="0" err="1"/>
              <a:t>МояПеременная</a:t>
            </a:r>
            <a:r>
              <a:rPr lang="ru-RU" i="1" dirty="0"/>
              <a:t> = Истина Тогда </a:t>
            </a:r>
            <a:r>
              <a:rPr lang="ru-RU" i="1" dirty="0" err="1"/>
              <a:t>КонецЕсли</a:t>
            </a:r>
            <a:r>
              <a:rPr lang="ru-RU" i="1" dirty="0"/>
              <a:t> ;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достаточно написать</a:t>
            </a:r>
          </a:p>
          <a:p>
            <a:pPr marL="0" indent="442913" algn="just">
              <a:buNone/>
            </a:pPr>
            <a:r>
              <a:rPr lang="ru-RU" i="1" dirty="0"/>
              <a:t>Если </a:t>
            </a:r>
            <a:r>
              <a:rPr lang="ru-RU" i="1" dirty="0" err="1"/>
              <a:t>МояПеременная</a:t>
            </a:r>
            <a:r>
              <a:rPr lang="ru-RU" i="1" dirty="0"/>
              <a:t> Тогда </a:t>
            </a:r>
            <a:r>
              <a:rPr lang="ru-RU" i="1" dirty="0" err="1"/>
              <a:t>КонецЕсли</a:t>
            </a:r>
            <a:r>
              <a:rPr lang="ru-RU" i="1" dirty="0"/>
              <a:t>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3. Дата (</a:t>
            </a:r>
            <a:r>
              <a:rPr lang="en-US" dirty="0"/>
              <a:t>Date)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5800" y="1124744"/>
            <a:ext cx="7772400" cy="1440160"/>
          </a:xfrm>
        </p:spPr>
        <p:txBody>
          <a:bodyPr/>
          <a:lstStyle/>
          <a:p>
            <a:pPr marL="0" indent="442913" algn="just">
              <a:buNone/>
            </a:pPr>
            <a:r>
              <a:rPr lang="ru-RU" dirty="0"/>
              <a:t>Значения данного типа содержит дату от Рождества Христова (с 01 января 0001 года) и время с точностью до секунды.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85800" y="2420888"/>
            <a:ext cx="7772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just">
              <a:buNone/>
            </a:pPr>
            <a:r>
              <a:rPr lang="ru-RU" sz="2400" i="1" dirty="0"/>
              <a:t>Литералы</a:t>
            </a:r>
            <a:r>
              <a:rPr lang="ru-RU" sz="2400" dirty="0"/>
              <a:t>:</a:t>
            </a:r>
          </a:p>
          <a:p>
            <a:pPr indent="442913" algn="just">
              <a:buNone/>
            </a:pPr>
            <a:r>
              <a:rPr lang="ru-RU" sz="2400" dirty="0"/>
              <a:t>Строка цифр, заключенная в одинарные кавычки вида:</a:t>
            </a:r>
          </a:p>
          <a:p>
            <a:pPr indent="442913" algn="just">
              <a:buNone/>
            </a:pPr>
            <a:r>
              <a:rPr lang="ru-RU" sz="2400" dirty="0"/>
              <a:t>'YYYYMMDDHHMMSS‘              '</a:t>
            </a:r>
            <a:r>
              <a:rPr lang="ru-RU" sz="2400" dirty="0" err="1"/>
              <a:t>ГГГГММДДччммсс</a:t>
            </a:r>
            <a:r>
              <a:rPr lang="ru-RU" sz="2400" dirty="0"/>
              <a:t>' где:</a:t>
            </a:r>
          </a:p>
          <a:p>
            <a:pPr indent="442913" algn="just"/>
            <a:r>
              <a:rPr lang="ru-RU" sz="2400" dirty="0"/>
              <a:t>ГГГГ - четыре цифры года (включая век);</a:t>
            </a:r>
          </a:p>
          <a:p>
            <a:pPr indent="442913" algn="just"/>
            <a:r>
              <a:rPr lang="ru-RU" sz="2400" dirty="0"/>
              <a:t>MM - две цифры месяца:</a:t>
            </a:r>
          </a:p>
          <a:p>
            <a:pPr indent="442913" algn="just"/>
            <a:r>
              <a:rPr lang="ru-RU" sz="2400" dirty="0"/>
              <a:t>ДД - две цифры даты;</a:t>
            </a:r>
          </a:p>
          <a:p>
            <a:pPr indent="442913" algn="just"/>
            <a:r>
              <a:rPr lang="ru-RU" sz="2400" dirty="0" err="1"/>
              <a:t>чч</a:t>
            </a:r>
            <a:r>
              <a:rPr lang="ru-RU" sz="2400" dirty="0"/>
              <a:t> - две цифры часа (в 24-х часовом формате);</a:t>
            </a:r>
          </a:p>
          <a:p>
            <a:pPr indent="442913" algn="just"/>
            <a:r>
              <a:rPr lang="ru-RU" sz="2400" dirty="0"/>
              <a:t>мм - две цифры минут;</a:t>
            </a:r>
          </a:p>
          <a:p>
            <a:pPr indent="442913" algn="just"/>
            <a:r>
              <a:rPr lang="ru-RU" sz="2400" dirty="0" err="1"/>
              <a:t>сс</a:t>
            </a:r>
            <a:r>
              <a:rPr lang="ru-RU" sz="2400" dirty="0"/>
              <a:t> - две цифры секунд;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04664"/>
            <a:ext cx="7772400" cy="79208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4. </a:t>
            </a:r>
            <a:r>
              <a:rPr lang="ru-RU" dirty="0" err="1"/>
              <a:t>Неопределено</a:t>
            </a:r>
            <a:r>
              <a:rPr lang="ru-RU" dirty="0"/>
              <a:t> (</a:t>
            </a:r>
            <a:r>
              <a:rPr lang="ru-RU" dirty="0" err="1"/>
              <a:t>Undefined</a:t>
            </a:r>
            <a:r>
              <a:rPr lang="ru-RU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474024" cy="4572000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Значение данного типа применяются, когда необходимо использовать пустое значение, не принадлежащее ни к одному другому типу. Например, такое значение изначально имеют реквизиты с составным типом значения. </a:t>
            </a:r>
          </a:p>
          <a:p>
            <a:pPr marL="0" indent="442913" algn="just">
              <a:buNone/>
            </a:pPr>
            <a:r>
              <a:rPr lang="ru-RU" i="1" dirty="0"/>
              <a:t>Литералы</a:t>
            </a:r>
            <a:r>
              <a:rPr lang="ru-RU" dirty="0"/>
              <a:t>:</a:t>
            </a:r>
          </a:p>
          <a:p>
            <a:pPr marL="0" indent="442913" algn="just"/>
            <a:r>
              <a:rPr lang="ru-RU" dirty="0" err="1"/>
              <a:t>Неопределено</a:t>
            </a:r>
            <a:r>
              <a:rPr lang="ru-RU" dirty="0"/>
              <a:t> (</a:t>
            </a:r>
            <a:r>
              <a:rPr lang="ru-RU" dirty="0" err="1"/>
              <a:t>Undefined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4626" y="188640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5. Строка (</a:t>
            </a:r>
            <a:r>
              <a:rPr lang="ru-RU" dirty="0" err="1"/>
              <a:t>String</a:t>
            </a:r>
            <a:r>
              <a:rPr lang="ru-RU" dirty="0"/>
              <a:t>)</a:t>
            </a: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467544" y="836712"/>
            <a:ext cx="8208912" cy="557216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indent="457200" algn="just"/>
            <a:r>
              <a:rPr lang="ru-RU" sz="2800" dirty="0"/>
              <a:t>Значения данного типа содержат строку в формате </a:t>
            </a:r>
            <a:r>
              <a:rPr lang="ru-RU" sz="2800" dirty="0" err="1"/>
              <a:t>Unicode</a:t>
            </a:r>
            <a:r>
              <a:rPr lang="ru-RU" sz="2800" dirty="0"/>
              <a:t> произвольной длины.</a:t>
            </a:r>
            <a:endParaRPr lang="ru-RU" sz="2800" i="1" dirty="0"/>
          </a:p>
          <a:p>
            <a:pPr indent="457200" algn="just">
              <a:buNone/>
            </a:pPr>
            <a:endParaRPr lang="ru-RU" sz="2800" i="1" dirty="0"/>
          </a:p>
          <a:p>
            <a:pPr marL="0" lvl="1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/>
              <a:t>Литералы строкового типа представляют собой набор символов заключенных в кавычки. Для задания в строке символа " (кавычка) необходимо записать две кавычки подряд.</a:t>
            </a:r>
          </a:p>
          <a:p>
            <a:pPr marL="0" lvl="1" indent="457200" algn="just">
              <a:buFont typeface="Arial" pitchFamily="34" charset="0"/>
              <a:buChar char="•"/>
            </a:pPr>
            <a:endParaRPr lang="ru-RU" sz="2800" dirty="0"/>
          </a:p>
          <a:p>
            <a:pPr marL="0" lvl="1" indent="457200" algn="just">
              <a:buFont typeface="Arial" pitchFamily="34" charset="0"/>
              <a:buChar char="•"/>
            </a:pPr>
            <a:r>
              <a:rPr lang="ru-RU" sz="2800" dirty="0"/>
              <a:t>Кроме того, допускаются «многострочные» строковые константы. В исходном тексте многострочные константы могут задаваться двумя способами: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58259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Пример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3568" y="1000108"/>
            <a:ext cx="7776864" cy="5357850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Пример строки </a:t>
            </a:r>
          </a:p>
          <a:p>
            <a:pPr marL="0" lvl="2" indent="442913" algn="just"/>
            <a:r>
              <a:rPr lang="ru-RU" dirty="0"/>
              <a:t>                             </a:t>
            </a:r>
            <a:r>
              <a:rPr lang="ru-RU" dirty="0" err="1"/>
              <a:t>МояСтрока</a:t>
            </a:r>
            <a:r>
              <a:rPr lang="ru-RU" dirty="0"/>
              <a:t> </a:t>
            </a:r>
            <a:r>
              <a:rPr lang="ru-RU" baseline="30000" dirty="0"/>
              <a:t>=</a:t>
            </a:r>
            <a:r>
              <a:rPr lang="ru-RU" dirty="0"/>
              <a:t> "Это правильная строка";</a:t>
            </a:r>
          </a:p>
          <a:p>
            <a:pPr marL="0" indent="442913" algn="just"/>
            <a:r>
              <a:rPr lang="ru-RU" dirty="0"/>
              <a:t>Пример 1 многострочной строки </a:t>
            </a:r>
          </a:p>
          <a:p>
            <a:pPr marL="0" lvl="2" indent="442913" algn="just"/>
            <a:r>
              <a:rPr lang="ru-RU" dirty="0"/>
              <a:t>                              МояМногострочнаяСтрока1 = "Это</a:t>
            </a:r>
            <a:br>
              <a:rPr lang="ru-RU" dirty="0"/>
            </a:br>
            <a:r>
              <a:rPr lang="ru-RU" dirty="0"/>
              <a:t>                              | правильная</a:t>
            </a:r>
            <a:br>
              <a:rPr lang="ru-RU" dirty="0"/>
            </a:br>
            <a:r>
              <a:rPr lang="ru-RU" dirty="0"/>
              <a:t>                              | многострочная</a:t>
            </a:r>
            <a:br>
              <a:rPr lang="ru-RU" dirty="0"/>
            </a:br>
            <a:r>
              <a:rPr lang="ru-RU" dirty="0"/>
              <a:t>                              | строка" ;</a:t>
            </a:r>
          </a:p>
          <a:p>
            <a:pPr marL="0" indent="442913" algn="just"/>
            <a:r>
              <a:rPr lang="ru-RU" dirty="0"/>
              <a:t>Пример 2 многострочной строки </a:t>
            </a:r>
          </a:p>
          <a:p>
            <a:pPr marL="0" lvl="2" indent="442913" algn="just"/>
            <a:r>
              <a:rPr lang="ru-RU" dirty="0"/>
              <a:t>                              МояМногострочнаяСтрока2 = "Это тоже" </a:t>
            </a:r>
            <a:br>
              <a:rPr lang="ru-RU" dirty="0"/>
            </a:br>
            <a:r>
              <a:rPr lang="ru-RU" dirty="0"/>
              <a:t>                              "правильная"</a:t>
            </a:r>
            <a:br>
              <a:rPr lang="ru-RU" dirty="0"/>
            </a:br>
            <a:r>
              <a:rPr lang="ru-RU" dirty="0"/>
              <a:t>                              " многострочная"</a:t>
            </a:r>
            <a:br>
              <a:rPr lang="ru-RU" dirty="0"/>
            </a:br>
            <a:r>
              <a:rPr lang="ru-RU" dirty="0"/>
              <a:t>                              "строка" ;</a:t>
            </a:r>
          </a:p>
          <a:p>
            <a:pPr marL="0" indent="442913" algn="just"/>
            <a:r>
              <a:rPr lang="ru-RU" dirty="0"/>
              <a:t>Пример строки с кавычками </a:t>
            </a:r>
          </a:p>
          <a:p>
            <a:pPr marL="0" lvl="2" indent="442913" algn="just"/>
            <a:r>
              <a:rPr lang="ru-RU" dirty="0"/>
              <a:t>                               </a:t>
            </a:r>
            <a:r>
              <a:rPr lang="ru-RU" dirty="0" err="1"/>
              <a:t>НазваниеФирмы</a:t>
            </a:r>
            <a:r>
              <a:rPr lang="ru-RU" dirty="0"/>
              <a:t> </a:t>
            </a:r>
            <a:r>
              <a:rPr lang="ru-RU" baseline="30000" dirty="0"/>
              <a:t>=</a:t>
            </a:r>
            <a:r>
              <a:rPr lang="ru-RU" dirty="0"/>
              <a:t> "000 "Василек"";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6. Число (</a:t>
            </a:r>
            <a:r>
              <a:rPr lang="ru-RU" dirty="0" err="1"/>
              <a:t>Number</a:t>
            </a:r>
            <a:r>
              <a:rPr lang="ru-RU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928670"/>
            <a:ext cx="7992888" cy="5643602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Числовым типом может быть представлено любое десятичное число. Над данными числового типа определены основные арифметические операции: сложение, вычитание, умножение и деление. </a:t>
            </a:r>
            <a:r>
              <a:rPr lang="ru-RU" i="1" dirty="0"/>
              <a:t>Литералы:</a:t>
            </a:r>
          </a:p>
          <a:p>
            <a:pPr marL="0" indent="442913" algn="just"/>
            <a:r>
              <a:rPr lang="ru-RU" dirty="0"/>
              <a:t>Набор цифр, написанных непосредственно в тексте модуля. В качестве разделителя целой и дробной части используется . (точка).</a:t>
            </a:r>
          </a:p>
          <a:p>
            <a:pPr marL="0" indent="442913" algn="just">
              <a:buNone/>
            </a:pPr>
            <a:r>
              <a:rPr lang="ru-RU" dirty="0"/>
              <a:t>Пример:</a:t>
            </a:r>
          </a:p>
          <a:p>
            <a:pPr marL="0" indent="442913">
              <a:buNone/>
            </a:pPr>
            <a:r>
              <a:rPr lang="ru-RU" dirty="0"/>
              <a:t>	А = 15;</a:t>
            </a:r>
            <a:br>
              <a:rPr lang="ru-RU" dirty="0"/>
            </a:br>
            <a:r>
              <a:rPr lang="ru-RU" dirty="0"/>
              <a:t>	Б = -968.612;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147248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Оператор присваивания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35740" y="3429000"/>
            <a:ext cx="8351060" cy="31375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u-RU" dirty="0"/>
          </a:p>
          <a:p>
            <a:pPr marL="0" indent="442913" algn="just"/>
            <a:r>
              <a:rPr lang="ru-RU" dirty="0"/>
              <a:t>В качестве &lt;Назначения&gt; может выступать переменная или свойство объекта встроенного языка, которое допускает запись.</a:t>
            </a:r>
          </a:p>
          <a:p>
            <a:pPr marL="0" indent="442913" algn="just"/>
            <a:r>
              <a:rPr lang="ru-RU" dirty="0"/>
              <a:t>&lt;Источник&gt; - Выражение, значение которого необходимо присвоить.</a:t>
            </a:r>
          </a:p>
          <a:p>
            <a:endParaRPr lang="ru-RU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335740" y="1741827"/>
            <a:ext cx="8484732" cy="38576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indent="442913" algn="just">
              <a:buNone/>
            </a:pPr>
            <a:r>
              <a:rPr lang="ru-RU" sz="2600" i="1" dirty="0"/>
              <a:t>Описание:</a:t>
            </a:r>
          </a:p>
          <a:p>
            <a:pPr algn="just"/>
            <a:r>
              <a:rPr lang="ru-RU" sz="2600" dirty="0"/>
              <a:t>Оператор присваивания (символ "=") означает присваивание значения &lt;Источник&gt; переменной, обозначенной как &lt;Назначение&gt;.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35740" y="832459"/>
            <a:ext cx="625248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just">
              <a:buNone/>
            </a:pPr>
            <a:r>
              <a:rPr lang="ru-RU" sz="2600" i="1" dirty="0"/>
              <a:t>Синтаксис:</a:t>
            </a:r>
          </a:p>
          <a:p>
            <a:pPr indent="442913" algn="just"/>
            <a:r>
              <a:rPr lang="ru-RU" sz="2600" dirty="0"/>
              <a:t>&lt;Назначение&gt; = &lt;Источник&gt;;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3048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Пример: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	А = В;</a:t>
            </a:r>
            <a:br>
              <a:rPr lang="ru-RU" dirty="0"/>
            </a:br>
            <a:r>
              <a:rPr lang="ru-RU" dirty="0"/>
              <a:t>Стр1 = "777";</a:t>
            </a:r>
            <a:br>
              <a:rPr lang="ru-RU" dirty="0"/>
            </a:br>
            <a:r>
              <a:rPr lang="ru-RU" dirty="0" err="1"/>
              <a:t>ДатаДокумента=</a:t>
            </a:r>
            <a:r>
              <a:rPr lang="ru-RU" dirty="0"/>
              <a:t> '20020717';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779" y="260648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Выражения языка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57158" y="927061"/>
            <a:ext cx="8329642" cy="5429288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b="1" dirty="0"/>
              <a:t>Выражение</a:t>
            </a:r>
            <a:r>
              <a:rPr lang="ru-RU" dirty="0"/>
              <a:t> — это математическая, логическая или строковая формула, состоящая из соответствующих операций, по которой вычисляется значение. </a:t>
            </a:r>
          </a:p>
          <a:p>
            <a:pPr marL="0" indent="442913" algn="just">
              <a:buNone/>
            </a:pPr>
            <a:r>
              <a:rPr lang="ru-RU" dirty="0"/>
              <a:t>Математическое и логическое выражение может стоять справа от знака равенства в операторах присваивания, быть параметром процедур или функций. </a:t>
            </a:r>
          </a:p>
          <a:p>
            <a:pPr marL="0" indent="442913" algn="just">
              <a:buNone/>
            </a:pPr>
            <a:r>
              <a:rPr lang="ru-RU" dirty="0"/>
              <a:t>Логическое выражение также может быть условием в управляющих конструкциях Если, Пока, Для. </a:t>
            </a:r>
          </a:p>
          <a:p>
            <a:pPr marL="0" indent="442913" algn="just">
              <a:buNone/>
            </a:pPr>
            <a:r>
              <a:rPr lang="ru-RU" dirty="0"/>
              <a:t>Выражения состоят из констант, переменных и функций, связанных символами логических и/или арифметических операций.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72547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Арифметические операции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442913" algn="just">
              <a:buNone/>
            </a:pPr>
            <a:r>
              <a:rPr lang="ru-RU" dirty="0"/>
              <a:t>В языке определены следующие виды арифметических операций:</a:t>
            </a:r>
          </a:p>
          <a:p>
            <a:pPr marL="0" indent="442913" algn="just"/>
            <a:r>
              <a:rPr lang="ru-RU" dirty="0"/>
              <a:t>сложение              (Оп1 + Оп2)</a:t>
            </a:r>
          </a:p>
          <a:p>
            <a:pPr marL="0" indent="442913" algn="just"/>
            <a:r>
              <a:rPr lang="ru-RU" dirty="0"/>
              <a:t>вычитание             (Оп1 - Оп2)</a:t>
            </a:r>
          </a:p>
          <a:p>
            <a:pPr marL="0" indent="442913" algn="just"/>
            <a:r>
              <a:rPr lang="ru-RU" dirty="0"/>
              <a:t>умножение             (Оп1 * Оп2)</a:t>
            </a:r>
          </a:p>
          <a:p>
            <a:pPr marL="0" indent="442913" algn="just"/>
            <a:r>
              <a:rPr lang="ru-RU" dirty="0"/>
              <a:t>деление                (Оп1 / Оп2)</a:t>
            </a:r>
          </a:p>
          <a:p>
            <a:pPr marL="0" indent="442913" algn="just"/>
            <a:r>
              <a:rPr lang="ru-RU" dirty="0"/>
              <a:t>остаток от деления    (Оп1 % Оп2)</a:t>
            </a:r>
          </a:p>
          <a:p>
            <a:pPr marL="0" indent="442913" algn="just"/>
            <a:r>
              <a:rPr lang="ru-RU" dirty="0"/>
              <a:t>унарный минус    (-Оп1)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571500" y="2000250"/>
          <a:ext cx="7777163" cy="4059241"/>
        </p:xfrm>
        <a:graphic>
          <a:graphicData uri="http://schemas.openxmlformats.org/drawingml/2006/table">
            <a:tbl>
              <a:tblPr/>
              <a:tblGrid>
                <a:gridCol w="331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определено для следующих типов операндов: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 + Число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 + Число (к дате прибавля­ется число дней)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Вычитание определено для следующих типов операндов: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 – Число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 – Число (от даты отнимает­ся число дней)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 – Дата (результатом явля­ется число дней между датами)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Умножение: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 * Число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Деление: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 / Число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Остаток от деления: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Число % Число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259" name="Прямоугольник 2"/>
          <p:cNvSpPr>
            <a:spLocks noChangeArrowheads="1"/>
          </p:cNvSpPr>
          <p:nvPr/>
        </p:nvSpPr>
        <p:spPr bwMode="auto">
          <a:xfrm>
            <a:off x="2181224" y="764704"/>
            <a:ext cx="45577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Арифметические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8030404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980" y="404664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Операция конкатенации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1142984"/>
            <a:ext cx="8258204" cy="5429288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Операция конкатенации ("+") используется для того, чтобы присоединить одну строку к другой. </a:t>
            </a:r>
          </a:p>
          <a:p>
            <a:pPr marL="0" indent="442913" algn="just"/>
            <a:r>
              <a:rPr lang="ru-RU" dirty="0"/>
              <a:t>В случае несовпадения типа данных второго или последующих операндов со строковым типом, их значение преобразуется к строковому типу в соответствии с правилами преобразования типов.</a:t>
            </a:r>
          </a:p>
          <a:p>
            <a:pPr>
              <a:buNone/>
            </a:pPr>
            <a:endParaRPr lang="ru-RU" i="1" dirty="0"/>
          </a:p>
          <a:p>
            <a:pPr marL="0" indent="442913" algn="just">
              <a:buNone/>
            </a:pPr>
            <a:r>
              <a:rPr lang="ru-RU" i="1" dirty="0"/>
              <a:t>Пример:</a:t>
            </a:r>
          </a:p>
          <a:p>
            <a:pPr marL="0" indent="442913" algn="just"/>
            <a:r>
              <a:rPr lang="ru-RU" dirty="0"/>
              <a:t>ФИО = Фамилия + " " + Имя + " " + Отчество;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217" y="476672"/>
            <a:ext cx="7772400" cy="58259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Логические операции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78617" y="1196752"/>
            <a:ext cx="8186766" cy="5124472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dirty="0"/>
              <a:t>Логическая операция сравнивает операнды и вырабатывает значение типа Булево: Истина или Ложь. </a:t>
            </a:r>
          </a:p>
          <a:p>
            <a:pPr marL="0" indent="442913" algn="just"/>
            <a:r>
              <a:rPr lang="ru-RU" dirty="0"/>
              <a:t>Существует два вида логических операций: операции сравнения и булевы операции. </a:t>
            </a:r>
          </a:p>
          <a:p>
            <a:pPr marL="0" indent="442913" algn="just"/>
            <a:r>
              <a:rPr lang="ru-RU" dirty="0"/>
              <a:t>В операциях сравнения сравниваются два значения. </a:t>
            </a:r>
          </a:p>
          <a:p>
            <a:pPr marL="0" indent="442913" algn="just"/>
            <a:r>
              <a:rPr lang="ru-RU" dirty="0"/>
              <a:t>Булевы операции выполняются над значениями типа Булево, реализуя булеву алгебру. </a:t>
            </a:r>
          </a:p>
          <a:p>
            <a:pPr marL="0" indent="442913" algn="just"/>
            <a:r>
              <a:rPr lang="ru-RU" dirty="0"/>
              <a:t>Символы булевых операций могут комбинироваться, образуя составные операции.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Операции сравнения: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442913" algn="just">
              <a:buNone/>
            </a:pPr>
            <a:r>
              <a:rPr lang="ru-RU" dirty="0"/>
              <a:t>В языке определены следующие виды операций сравнения:</a:t>
            </a:r>
          </a:p>
          <a:p>
            <a:pPr marL="0" indent="442913" algn="just">
              <a:buNone/>
            </a:pPr>
            <a:r>
              <a:rPr lang="ru-RU" dirty="0"/>
              <a:t>больше            (Оп1 &gt; Оп2)</a:t>
            </a:r>
          </a:p>
          <a:p>
            <a:pPr marL="0" indent="442913" algn="just">
              <a:buNone/>
            </a:pPr>
            <a:r>
              <a:rPr lang="ru-RU" dirty="0"/>
              <a:t>больше или равно    (Оп1 &gt;= Оп2)</a:t>
            </a:r>
          </a:p>
          <a:p>
            <a:pPr marL="0" indent="442913" algn="just">
              <a:buNone/>
            </a:pPr>
            <a:r>
              <a:rPr lang="ru-RU" dirty="0"/>
              <a:t>равно              (Оп1 = Оп2)</a:t>
            </a:r>
          </a:p>
          <a:p>
            <a:pPr marL="0" indent="442913" algn="just">
              <a:buNone/>
            </a:pPr>
            <a:r>
              <a:rPr lang="ru-RU" dirty="0"/>
              <a:t>не равно            (Оп1 &lt;&gt; Оп2)</a:t>
            </a:r>
          </a:p>
          <a:p>
            <a:pPr marL="0" indent="442913" algn="just">
              <a:buNone/>
            </a:pPr>
            <a:r>
              <a:rPr lang="ru-RU" dirty="0"/>
              <a:t>меньше             (Оп1 &lt; Оп2)</a:t>
            </a:r>
          </a:p>
          <a:p>
            <a:pPr marL="0" indent="442913" algn="just">
              <a:buNone/>
            </a:pPr>
            <a:r>
              <a:rPr lang="ru-RU" dirty="0"/>
              <a:t>меньше или равно   (Оп1 &lt;= Оп2)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Операции сравнения определены для следующих типов операндов: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0001" y="1124744"/>
            <a:ext cx="8643998" cy="6500834"/>
          </a:xfrm>
        </p:spPr>
        <p:txBody>
          <a:bodyPr>
            <a:normAutofit/>
          </a:bodyPr>
          <a:lstStyle/>
          <a:p>
            <a:r>
              <a:rPr lang="ru-RU" dirty="0"/>
              <a:t>больше </a:t>
            </a:r>
          </a:p>
          <a:p>
            <a:pPr lvl="1"/>
            <a:r>
              <a:rPr lang="ru-RU" dirty="0"/>
              <a:t>Число&gt;Число Строка&gt;Строка Дата&gt;Дата</a:t>
            </a:r>
          </a:p>
          <a:p>
            <a:r>
              <a:rPr lang="ru-RU" dirty="0"/>
              <a:t>больше или равно:     </a:t>
            </a:r>
          </a:p>
          <a:p>
            <a:pPr lvl="1"/>
            <a:r>
              <a:rPr lang="ru-RU" dirty="0" err="1"/>
              <a:t>Чиcлo</a:t>
            </a:r>
            <a:r>
              <a:rPr lang="ru-RU" dirty="0"/>
              <a:t>&gt;</a:t>
            </a:r>
            <a:r>
              <a:rPr lang="ru-RU" dirty="0" err="1"/>
              <a:t>=Чиcлo</a:t>
            </a:r>
            <a:r>
              <a:rPr lang="ru-RU" dirty="0"/>
              <a:t> Строка&gt; = Строка  Дата&gt;</a:t>
            </a:r>
            <a:r>
              <a:rPr lang="ru-RU" dirty="0" err="1"/>
              <a:t>=Дата</a:t>
            </a:r>
            <a:endParaRPr lang="ru-RU" dirty="0"/>
          </a:p>
          <a:p>
            <a:r>
              <a:rPr lang="ru-RU" dirty="0"/>
              <a:t>меньше:              </a:t>
            </a:r>
          </a:p>
          <a:p>
            <a:pPr lvl="1"/>
            <a:r>
              <a:rPr lang="ru-RU" dirty="0"/>
              <a:t>Число&lt;Число Строка&lt;Строка  Дата&lt;Дата</a:t>
            </a:r>
          </a:p>
          <a:p>
            <a:r>
              <a:rPr lang="ru-RU" dirty="0"/>
              <a:t>меньше или равно:    </a:t>
            </a:r>
          </a:p>
          <a:p>
            <a:pPr lvl="1"/>
            <a:r>
              <a:rPr lang="ru-RU" dirty="0"/>
              <a:t>Число&lt;=Число  Строка&lt;= Строка  Дата&lt;=Дата</a:t>
            </a:r>
          </a:p>
          <a:p>
            <a:r>
              <a:rPr lang="ru-RU" dirty="0"/>
              <a:t>равно:              </a:t>
            </a:r>
          </a:p>
          <a:p>
            <a:pPr lvl="1"/>
            <a:r>
              <a:rPr lang="ru-RU" dirty="0"/>
              <a:t>Любой </a:t>
            </a:r>
            <a:r>
              <a:rPr lang="ru-RU" dirty="0" err="1"/>
              <a:t>тип=Любой</a:t>
            </a:r>
            <a:r>
              <a:rPr lang="ru-RU" dirty="0"/>
              <a:t> тип</a:t>
            </a:r>
          </a:p>
          <a:p>
            <a:r>
              <a:rPr lang="ru-RU" dirty="0"/>
              <a:t>не равно:           </a:t>
            </a:r>
          </a:p>
          <a:p>
            <a:pPr lvl="1"/>
            <a:r>
              <a:rPr lang="ru-RU" dirty="0"/>
              <a:t>Любой тип &lt;&gt; Любой тип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7468" y="326126"/>
            <a:ext cx="7772400" cy="58259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Булевы операции: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5800" y="908720"/>
            <a:ext cx="7772400" cy="5500726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dirty="0"/>
              <a:t>В языке определены следующие виды булевых операций:</a:t>
            </a:r>
          </a:p>
          <a:p>
            <a:pPr marL="0" indent="442913" algn="just"/>
            <a:r>
              <a:rPr lang="ru-RU" dirty="0"/>
              <a:t>И (AND)             конъюнкция (булево И)</a:t>
            </a:r>
          </a:p>
          <a:p>
            <a:pPr marL="0" indent="442913" algn="just"/>
            <a:r>
              <a:rPr lang="ru-RU" dirty="0"/>
              <a:t>ИЛИ (OR)           дизъюнкция (булево ИЛИ)</a:t>
            </a:r>
          </a:p>
          <a:p>
            <a:pPr marL="0" indent="442913" algn="just"/>
            <a:r>
              <a:rPr lang="ru-RU" dirty="0"/>
              <a:t>НЕ (NOT)            логическое отрицание (булево отрицание НЕ)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i="1" dirty="0"/>
              <a:t>Логические выражения вычисляются слева направо. Для того, чтобы избежать неоднозначности и управлять последовательностью операндов, следует применять круглые скобки.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82644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Уровни старшинства логических операций: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10158"/>
          </a:xfrm>
        </p:spPr>
        <p:txBody>
          <a:bodyPr/>
          <a:lstStyle/>
          <a:p>
            <a:r>
              <a:rPr lang="ru-RU" dirty="0"/>
              <a:t>Уровень 1          операнды заключенные в скобки</a:t>
            </a:r>
          </a:p>
          <a:p>
            <a:r>
              <a:rPr lang="ru-RU" dirty="0"/>
              <a:t>Уровень 2          НЕ</a:t>
            </a:r>
          </a:p>
          <a:p>
            <a:r>
              <a:rPr lang="ru-RU" dirty="0"/>
              <a:t>Уровень 3          И </a:t>
            </a:r>
          </a:p>
          <a:p>
            <a:r>
              <a:rPr lang="ru-RU" dirty="0"/>
              <a:t>Уровень 4          ИЛИ</a:t>
            </a:r>
          </a:p>
          <a:p>
            <a:endParaRPr lang="ru-RU" dirty="0"/>
          </a:p>
          <a:p>
            <a:pPr marL="0" indent="442913" algn="just">
              <a:buNone/>
            </a:pPr>
            <a:r>
              <a:rPr lang="ru-RU" b="1" i="1" dirty="0"/>
              <a:t>Замечание!</a:t>
            </a:r>
            <a:r>
              <a:rPr lang="ru-RU" i="1" dirty="0"/>
              <a:t> При вычислении логического выражения вычисляются только необходимые части выражения. Например, в выражении "(Цена &gt; 0) И </a:t>
            </a:r>
            <a:r>
              <a:rPr lang="ru-RU" i="1" dirty="0" err="1"/>
              <a:t>ПроверкаСуммы</a:t>
            </a:r>
            <a:r>
              <a:rPr lang="ru-RU" i="1" dirty="0"/>
              <a:t>()", если Цена &lt; 0, то функция </a:t>
            </a:r>
            <a:r>
              <a:rPr lang="ru-RU" i="1" dirty="0" err="1"/>
              <a:t>ПроверкаСуммы</a:t>
            </a:r>
            <a:r>
              <a:rPr lang="ru-RU" i="1" dirty="0"/>
              <a:t>() не вызывается.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Операторы и синтаксические конструкции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1443872"/>
            <a:ext cx="8064896" cy="2481266"/>
          </a:xfrm>
        </p:spPr>
        <p:txBody>
          <a:bodyPr>
            <a:normAutofit/>
          </a:bodyPr>
          <a:lstStyle/>
          <a:p>
            <a:pPr marL="0" indent="442913" algn="just">
              <a:buNone/>
            </a:pPr>
            <a:r>
              <a:rPr lang="ru-RU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? (вычислить выражение по условию)</a:t>
            </a:r>
          </a:p>
          <a:p>
            <a:pPr marL="0" indent="442913" algn="just"/>
            <a:r>
              <a:rPr lang="ru-RU" dirty="0"/>
              <a:t>Синтаксис:</a:t>
            </a:r>
          </a:p>
          <a:p>
            <a:pPr marL="0" indent="442913" algn="just">
              <a:buNone/>
            </a:pPr>
            <a:r>
              <a:rPr lang="ru-RU" i="1" dirty="0"/>
              <a:t>? (&lt;Логическое выражение&gt;, &lt;Выражение 1&gt;, &lt;Выражение 2&gt;)</a:t>
            </a:r>
          </a:p>
          <a:p>
            <a:pPr marL="0" indent="442913"/>
            <a:endParaRPr lang="ru-RU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685800" y="3357562"/>
            <a:ext cx="7918648" cy="3286148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indent="442913" algn="just"/>
            <a:r>
              <a:rPr lang="ru-RU" sz="2800" dirty="0"/>
              <a:t>Параметры:</a:t>
            </a:r>
          </a:p>
          <a:p>
            <a:pPr indent="442913" algn="just"/>
            <a:endParaRPr lang="ru-RU" sz="2800" dirty="0"/>
          </a:p>
          <a:p>
            <a:pPr indent="442913" algn="just">
              <a:buNone/>
            </a:pPr>
            <a:r>
              <a:rPr lang="ru-RU" sz="2800" i="1" dirty="0"/>
              <a:t>&lt;Логическое выражение&gt;</a:t>
            </a:r>
          </a:p>
          <a:p>
            <a:pPr indent="442913" algn="just">
              <a:buNone/>
            </a:pPr>
            <a:r>
              <a:rPr lang="ru-RU" sz="2800" dirty="0"/>
              <a:t>Логическое выражение, результат вычисления которого определяет одно из результирующих выражений, которые будут вычислены. </a:t>
            </a:r>
          </a:p>
          <a:p>
            <a:pPr indent="442913" algn="just">
              <a:buNone/>
            </a:pPr>
            <a:r>
              <a:rPr lang="ru-RU" sz="2800" dirty="0"/>
              <a:t>Если результат его вычисления Истина, то будет вычисляться &lt;Выражение 1&gt;. </a:t>
            </a:r>
          </a:p>
          <a:p>
            <a:pPr indent="442913" algn="just">
              <a:buNone/>
            </a:pPr>
            <a:r>
              <a:rPr lang="ru-RU" sz="2800" dirty="0"/>
              <a:t>Если результат Ложь - то &lt;Выражение 2&gt;.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Пример: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827584" y="1447800"/>
            <a:ext cx="7416824" cy="4572000"/>
          </a:xfrm>
        </p:spPr>
        <p:txBody>
          <a:bodyPr/>
          <a:lstStyle/>
          <a:p>
            <a:pPr marL="0" indent="442913" algn="just">
              <a:buNone/>
            </a:pPr>
            <a:r>
              <a:rPr lang="ru-RU" i="1" dirty="0"/>
              <a:t>Статус = ?(</a:t>
            </a:r>
            <a:r>
              <a:rPr lang="ru-RU" i="1" dirty="0" err="1"/>
              <a:t>ПолучитьСкидку</a:t>
            </a:r>
            <a:r>
              <a:rPr lang="ru-RU" i="1" dirty="0"/>
              <a:t>() &gt; 10, "Особый клиент", "Обычный клиент");</a:t>
            </a:r>
            <a:br>
              <a:rPr lang="ru-RU" i="1" dirty="0"/>
            </a:br>
            <a:r>
              <a:rPr lang="ru-RU" i="1" dirty="0"/>
              <a:t>Предупреждение(Статус) 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ru-RU" sz="2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rPr>
              <a:t>Выполнить (</a:t>
            </a:r>
            <a:r>
              <a:rPr lang="en-US" sz="2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rPr>
              <a:t>Execute)</a:t>
            </a:r>
            <a:br>
              <a:rPr lang="en-US" sz="2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rPr>
            </a:br>
            <a:endParaRPr lang="ru-RU" sz="26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69836" y="836000"/>
            <a:ext cx="7788364" cy="4071966"/>
          </a:xfrm>
        </p:spPr>
        <p:txBody>
          <a:bodyPr>
            <a:normAutofit fontScale="92500" lnSpcReduction="10000"/>
          </a:bodyPr>
          <a:lstStyle/>
          <a:p>
            <a:pPr marL="0" indent="442913" algn="just"/>
            <a:r>
              <a:rPr lang="ru-RU" b="1" dirty="0"/>
              <a:t>Синтаксис:</a:t>
            </a:r>
          </a:p>
          <a:p>
            <a:pPr marL="0" indent="442913" algn="just">
              <a:buNone/>
            </a:pPr>
            <a:r>
              <a:rPr lang="ru-RU" i="1" dirty="0"/>
              <a:t>Выполнить(&lt;Строка&gt;)</a:t>
            </a:r>
          </a:p>
          <a:p>
            <a:pPr marL="0" indent="442913" algn="just">
              <a:buNone/>
            </a:pPr>
            <a:r>
              <a:rPr lang="ru-RU" i="1" dirty="0"/>
              <a:t>Для исполнения кода, который хранится в виде текста и для запуска выполнения объекта Запрос.</a:t>
            </a:r>
          </a:p>
          <a:p>
            <a:pPr marL="0" indent="442913" algn="just"/>
            <a:r>
              <a:rPr lang="ru-RU" b="1" dirty="0"/>
              <a:t>Параметры:</a:t>
            </a:r>
          </a:p>
          <a:p>
            <a:pPr marL="0" indent="442913" algn="just">
              <a:buNone/>
            </a:pPr>
            <a:r>
              <a:rPr lang="ru-RU" i="1" dirty="0"/>
              <a:t>&lt;Строка&gt;</a:t>
            </a:r>
          </a:p>
          <a:p>
            <a:pPr marL="0" indent="442913" algn="just">
              <a:buNone/>
            </a:pPr>
            <a:r>
              <a:rPr lang="ru-RU" dirty="0"/>
              <a:t>Строка, содержащая текст исполняемого кода.</a:t>
            </a:r>
          </a:p>
          <a:p>
            <a:pPr marL="0" indent="442913" algn="just"/>
            <a:r>
              <a:rPr lang="ru-RU" b="1" dirty="0"/>
              <a:t>Описание:</a:t>
            </a:r>
          </a:p>
          <a:p>
            <a:pPr marL="0" indent="442913" algn="just">
              <a:buNone/>
            </a:pPr>
            <a:r>
              <a:rPr lang="ru-RU" dirty="0"/>
              <a:t>Позволяет выполнить фрагмент кода, который передается ему в качестве строкового значения.</a:t>
            </a: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5800" y="52292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400" i="1" dirty="0"/>
              <a:t>// Выводит в окно сообщений текущую дату. </a:t>
            </a:r>
          </a:p>
          <a:p>
            <a:pPr algn="just">
              <a:buNone/>
            </a:pPr>
            <a:br>
              <a:rPr lang="ru-RU" sz="2400" dirty="0"/>
            </a:br>
            <a:r>
              <a:rPr lang="ru-RU" sz="2400" i="1" dirty="0"/>
              <a:t>Выполнить ("Сообщить (</a:t>
            </a:r>
            <a:r>
              <a:rPr lang="ru-RU" sz="2400" i="1" dirty="0" err="1"/>
              <a:t>ТекущаяДата</a:t>
            </a:r>
            <a:r>
              <a:rPr lang="ru-RU" sz="2400" i="1" dirty="0"/>
              <a:t> ())");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143638" y="4713965"/>
            <a:ext cx="6840760" cy="11430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Пример:</a:t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2"/>
          <p:cNvSpPr txBox="1">
            <a:spLocks/>
          </p:cNvSpPr>
          <p:nvPr/>
        </p:nvSpPr>
        <p:spPr>
          <a:xfrm>
            <a:off x="611560" y="1556792"/>
            <a:ext cx="7848872" cy="4071966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indent="442913" algn="just"/>
            <a:r>
              <a:rPr lang="ru-RU" sz="2800" b="1" dirty="0"/>
              <a:t>Замечание по методу Выполнить():</a:t>
            </a:r>
            <a:r>
              <a:rPr lang="ru-RU" sz="2800" dirty="0"/>
              <a:t> Исполняемый код не должен содержать в себе отдельных процедур или функций, т.к. исполнение кода само по себе идет в рамках процедуры или функции, в которой использован этот оператор. А также не должен содержать явного объявления переменных.</a:t>
            </a:r>
          </a:p>
          <a:p>
            <a:pPr indent="442913" algn="just"/>
            <a:r>
              <a:rPr lang="ru-RU" sz="2800" b="1" dirty="0"/>
              <a:t>Важно!</a:t>
            </a:r>
            <a:r>
              <a:rPr lang="ru-RU" sz="2800" dirty="0"/>
              <a:t> Не рекомендуется реализовывать с помощью этого метода существенную часть функциональности прикладных решений.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0348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214290"/>
            <a:ext cx="7315746" cy="785818"/>
          </a:xfrm>
        </p:spPr>
        <p:txBody>
          <a:bodyPr>
            <a:normAutofit/>
          </a:bodyPr>
          <a:lstStyle/>
          <a:p>
            <a:pPr algn="ctr"/>
            <a:r>
              <a:rPr lang="ru-RU" sz="29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rPr>
              <a:t>Для (</a:t>
            </a:r>
            <a:r>
              <a:rPr lang="ru-RU" sz="2900" b="1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rPr>
              <a:t>For</a:t>
            </a:r>
            <a:r>
              <a:rPr lang="ru-RU" sz="29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rPr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/>
              <a:t>Синтаксис:</a:t>
            </a:r>
          </a:p>
          <a:p>
            <a:pPr>
              <a:buNone/>
            </a:pPr>
            <a:r>
              <a:rPr lang="ru-RU" i="1" dirty="0"/>
              <a:t>Для &lt;Имя переменной &gt; = &lt;Выражение 1 &gt; По &lt;Выражение 2&gt; Цикл</a:t>
            </a:r>
          </a:p>
          <a:p>
            <a:pPr>
              <a:buNone/>
            </a:pPr>
            <a:r>
              <a:rPr lang="ru-RU" i="1" dirty="0"/>
              <a:t>// Операторы [Прервать;</a:t>
            </a:r>
            <a:r>
              <a:rPr lang="en-US" i="1" dirty="0"/>
              <a:t>]</a:t>
            </a:r>
            <a:endParaRPr lang="ru-RU" i="1" dirty="0"/>
          </a:p>
          <a:p>
            <a:pPr>
              <a:buNone/>
            </a:pPr>
            <a:r>
              <a:rPr lang="ru-RU" i="1" dirty="0"/>
              <a:t>// Операторы [Продолжить ;] </a:t>
            </a:r>
          </a:p>
          <a:p>
            <a:pPr>
              <a:buNone/>
            </a:pPr>
            <a:r>
              <a:rPr lang="ru-RU" i="1" dirty="0"/>
              <a:t>// Операторы</a:t>
            </a:r>
          </a:p>
          <a:p>
            <a:pPr>
              <a:buNone/>
            </a:pPr>
            <a:r>
              <a:rPr lang="ru-RU" i="1" dirty="0" err="1"/>
              <a:t>КонецЦикла</a:t>
            </a:r>
            <a:r>
              <a:rPr lang="ru-RU" i="1" dirty="0"/>
              <a:t> 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258000" cy="58259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Параметры: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707217" y="1196752"/>
            <a:ext cx="7753215" cy="4143404"/>
          </a:xfrm>
        </p:spPr>
        <p:txBody>
          <a:bodyPr>
            <a:normAutofit/>
          </a:bodyPr>
          <a:lstStyle/>
          <a:p>
            <a:pPr marL="0" indent="442913" algn="just"/>
            <a:r>
              <a:rPr lang="ru-RU" b="1" dirty="0"/>
              <a:t>&lt;Имя переменной&gt;</a:t>
            </a:r>
          </a:p>
          <a:p>
            <a:pPr marL="0" indent="442913" algn="just">
              <a:buNone/>
            </a:pPr>
            <a:r>
              <a:rPr lang="ru-RU" dirty="0"/>
              <a:t>Идентификатор переменной (счетчика цикла), значение которой автоматически увеличивается на 1 при каждом повторении цикла.</a:t>
            </a:r>
          </a:p>
          <a:p>
            <a:pPr marL="0" indent="442913" algn="just">
              <a:buNone/>
            </a:pPr>
            <a:r>
              <a:rPr lang="ru-RU" dirty="0"/>
              <a:t>Так называемый счетчик цикла.</a:t>
            </a:r>
          </a:p>
          <a:p>
            <a:pPr marL="0" indent="442913" algn="just"/>
            <a:r>
              <a:rPr lang="ru-RU" b="1" dirty="0"/>
              <a:t>&lt;Выражение 1&gt; </a:t>
            </a:r>
          </a:p>
          <a:p>
            <a:pPr marL="0" indent="442913" algn="just">
              <a:buNone/>
            </a:pPr>
            <a:r>
              <a:rPr lang="ru-RU" dirty="0"/>
              <a:t>Числовое выражение, которое задает начальное значение, присваиваемое счетчику цикла при первом проходе цикла.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2"/>
          <p:cNvSpPr txBox="1">
            <a:spLocks/>
          </p:cNvSpPr>
          <p:nvPr/>
        </p:nvSpPr>
        <p:spPr>
          <a:xfrm>
            <a:off x="683568" y="620688"/>
            <a:ext cx="7776864" cy="414340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indent="442913" algn="just"/>
            <a:r>
              <a:rPr lang="ru-RU" sz="2400" b="1" dirty="0"/>
              <a:t>По</a:t>
            </a:r>
          </a:p>
          <a:p>
            <a:pPr indent="442913" algn="just">
              <a:buNone/>
            </a:pPr>
            <a:r>
              <a:rPr lang="ru-RU" sz="2400" dirty="0"/>
              <a:t>Синтаксическая связка для параметра &lt;Выражение 2&gt;.</a:t>
            </a:r>
          </a:p>
          <a:p>
            <a:pPr indent="442913" algn="just"/>
            <a:r>
              <a:rPr lang="ru-RU" sz="2400" b="1" dirty="0"/>
              <a:t>&lt;Выражение 2&gt;</a:t>
            </a:r>
          </a:p>
          <a:p>
            <a:pPr indent="442913" algn="just">
              <a:buNone/>
            </a:pPr>
            <a:r>
              <a:rPr lang="ru-RU" sz="2400" dirty="0"/>
              <a:t>Максимальное значение счетчика цикла. Когда переменная &lt;Имя переменной&gt; становится больше чем &lt;Выражение 2&gt;, выполнение оператора цикла Для прекращается.</a:t>
            </a:r>
          </a:p>
          <a:p>
            <a:pPr indent="442913" algn="just">
              <a:buNone/>
            </a:pPr>
            <a:r>
              <a:rPr lang="ru-RU" sz="2400" b="1" dirty="0"/>
              <a:t>Цикл</a:t>
            </a:r>
          </a:p>
          <a:p>
            <a:pPr indent="442913" algn="just">
              <a:buNone/>
            </a:pPr>
            <a:r>
              <a:rPr lang="ru-RU" sz="2400" dirty="0"/>
              <a:t>Операторы, следующие за ключевым словом Цикл, выполняются, пока значение переменной &lt;Имя переменной&gt; меньше значения &lt;Выражение 2&gt;.</a:t>
            </a:r>
          </a:p>
          <a:p>
            <a:pPr indent="442913" algn="just"/>
            <a:r>
              <a:rPr lang="ru-RU" sz="2400" b="1" dirty="0"/>
              <a:t>// Операторы</a:t>
            </a:r>
          </a:p>
          <a:p>
            <a:pPr indent="442913" algn="just"/>
            <a:r>
              <a:rPr lang="ru-RU" sz="2400" dirty="0"/>
              <a:t>Исполняемый оператор или последовательность таких операторов.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821248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899592" y="404664"/>
            <a:ext cx="7185992" cy="5857916"/>
          </a:xfrm>
        </p:spPr>
        <p:txBody>
          <a:bodyPr>
            <a:normAutofit lnSpcReduction="10000"/>
          </a:bodyPr>
          <a:lstStyle/>
          <a:p>
            <a:pPr marL="0" indent="442913" algn="just"/>
            <a:r>
              <a:rPr lang="ru-RU" b="1" dirty="0"/>
              <a:t>Прервать</a:t>
            </a:r>
          </a:p>
          <a:p>
            <a:pPr marL="0" indent="442913" algn="just">
              <a:buNone/>
            </a:pPr>
            <a:r>
              <a:rPr lang="ru-RU" dirty="0"/>
              <a:t>Позволяет прервать выполнение цикла в любой точке. После выполнение этого оператора управление передается оператору, следующему за ключевым словом </a:t>
            </a:r>
            <a:r>
              <a:rPr lang="ru-RU" dirty="0" err="1"/>
              <a:t>КонецЦикла</a:t>
            </a:r>
            <a:r>
              <a:rPr lang="ru-RU" dirty="0"/>
              <a:t>.</a:t>
            </a:r>
          </a:p>
          <a:p>
            <a:pPr marL="0" indent="442913" algn="just"/>
            <a:r>
              <a:rPr lang="ru-RU" b="1" dirty="0"/>
              <a:t>Продолжить</a:t>
            </a:r>
          </a:p>
          <a:p>
            <a:pPr marL="0" indent="442913" algn="just">
              <a:buNone/>
            </a:pPr>
            <a:r>
              <a:rPr lang="ru-RU" dirty="0"/>
              <a:t>Немедленно передает управление в начало цикла, где производится вычисление и проверка условий выполнения цикла. Операторы, следующие в теле цикла за ним, на данной итерации обхода не выполняются.</a:t>
            </a:r>
          </a:p>
          <a:p>
            <a:pPr marL="0" indent="442913" algn="just"/>
            <a:r>
              <a:rPr lang="ru-RU" b="1" dirty="0" err="1"/>
              <a:t>КонецЦикла</a:t>
            </a:r>
            <a:endParaRPr lang="ru-RU" b="1" dirty="0"/>
          </a:p>
          <a:p>
            <a:pPr marL="0" indent="442913" algn="just">
              <a:buNone/>
            </a:pPr>
            <a:r>
              <a:rPr lang="ru-RU" dirty="0"/>
              <a:t>Ключевое слово, которое завершает структуру оператора цикла.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7330008" cy="114300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Пример: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i="1" dirty="0"/>
              <a:t>// Перебор дней текущего месяца</a:t>
            </a:r>
            <a:br>
              <a:rPr lang="ru-RU" i="1" dirty="0"/>
            </a:br>
            <a:endParaRPr lang="en-US" i="1" dirty="0"/>
          </a:p>
          <a:p>
            <a:pPr marL="0" indent="442913" algn="just">
              <a:buNone/>
            </a:pPr>
            <a:r>
              <a:rPr lang="ru-RU" i="1" dirty="0" err="1"/>
              <a:t>ПоследнийДеньМесяца</a:t>
            </a:r>
            <a:r>
              <a:rPr lang="ru-RU" i="1" dirty="0"/>
              <a:t> = День(</a:t>
            </a:r>
            <a:r>
              <a:rPr lang="ru-RU" i="1" dirty="0" err="1"/>
              <a:t>КонецМесяца</a:t>
            </a:r>
            <a:r>
              <a:rPr lang="ru-RU" i="1" dirty="0"/>
              <a:t>(</a:t>
            </a:r>
            <a:r>
              <a:rPr lang="ru-RU" i="1" dirty="0" err="1"/>
              <a:t>РабочаяДата</a:t>
            </a:r>
            <a:r>
              <a:rPr lang="ru-RU" i="1" dirty="0"/>
              <a:t>));</a:t>
            </a:r>
            <a:br>
              <a:rPr lang="ru-RU" i="1" dirty="0"/>
            </a:br>
            <a:r>
              <a:rPr lang="ru-RU" i="1" dirty="0"/>
              <a:t>Для </a:t>
            </a:r>
            <a:r>
              <a:rPr lang="ru-RU" i="1" dirty="0" err="1"/>
              <a:t>ТекДень</a:t>
            </a:r>
            <a:r>
              <a:rPr lang="ru-RU" i="1" dirty="0"/>
              <a:t> = 1 по </a:t>
            </a:r>
            <a:r>
              <a:rPr lang="ru-RU" i="1" dirty="0" err="1"/>
              <a:t>ПоследнийДеньМесяца</a:t>
            </a:r>
            <a:r>
              <a:rPr lang="ru-RU" i="1" dirty="0"/>
              <a:t> Цикл</a:t>
            </a:r>
            <a:br>
              <a:rPr lang="ru-RU" i="1" dirty="0"/>
            </a:br>
            <a:r>
              <a:rPr lang="ru-RU" i="1" dirty="0"/>
              <a:t>    Состояние("Обрабатывается день: " + </a:t>
            </a:r>
            <a:r>
              <a:rPr lang="ru-RU" i="1" dirty="0" err="1"/>
              <a:t>ТекДень</a:t>
            </a:r>
            <a:r>
              <a:rPr lang="ru-RU" i="1" dirty="0"/>
              <a:t>);</a:t>
            </a:r>
            <a:br>
              <a:rPr lang="ru-RU" i="1" dirty="0"/>
            </a:br>
            <a:endParaRPr lang="en-US" i="1" dirty="0"/>
          </a:p>
          <a:p>
            <a:pPr marL="0" indent="442913" algn="just">
              <a:buNone/>
            </a:pPr>
            <a:r>
              <a:rPr lang="ru-RU" i="1" dirty="0"/>
              <a:t>// Операторы обработки очередного дня месяца</a:t>
            </a:r>
            <a:br>
              <a:rPr lang="ru-RU" i="1" dirty="0"/>
            </a:br>
            <a:endParaRPr lang="en-US" i="1" dirty="0"/>
          </a:p>
          <a:p>
            <a:pPr marL="0" indent="442913" algn="just">
              <a:buNone/>
            </a:pPr>
            <a:r>
              <a:rPr lang="ru-RU" i="1" dirty="0" err="1"/>
              <a:t>КонецЦикла</a:t>
            </a:r>
            <a:r>
              <a:rPr lang="ru-RU" i="1" dirty="0"/>
              <a:t>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613" y="476250"/>
            <a:ext cx="5551487" cy="3298825"/>
          </a:xfrm>
          <a:noFill/>
        </p:spPr>
      </p:pic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076700"/>
            <a:ext cx="81962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34138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76250"/>
            <a:ext cx="7680325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628997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92696"/>
            <a:ext cx="5040313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24944"/>
            <a:ext cx="560863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066476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88913"/>
            <a:ext cx="5903913" cy="110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268413"/>
            <a:ext cx="4824413" cy="260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3860800"/>
            <a:ext cx="454818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495800"/>
            <a:ext cx="395922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92383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88913"/>
            <a:ext cx="4176712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92150"/>
            <a:ext cx="42481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500313"/>
            <a:ext cx="432117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017838"/>
            <a:ext cx="453072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26072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2395-7744-4F80-B7DA-1AFCDAA7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Директивы компиляции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A76802-8BC1-407F-97A7-C22963A83A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1" i="1" dirty="0"/>
              <a:t>Директивы компиляции</a:t>
            </a:r>
            <a:r>
              <a:rPr lang="ru-RU" i="1" dirty="0"/>
              <a:t> - это специальные ключевые слова, позволяющие указать платформе, в каком контексте необходимо выполнить процедуру или функцию.</a:t>
            </a:r>
            <a:endParaRPr lang="ru-RU" dirty="0"/>
          </a:p>
          <a:p>
            <a:endParaRPr lang="ru-RU" i="1" dirty="0"/>
          </a:p>
          <a:p>
            <a:pPr marL="0" indent="0">
              <a:buNone/>
            </a:pPr>
            <a:r>
              <a:rPr lang="ru-RU" dirty="0"/>
              <a:t>Существует пять различных директив:</a:t>
            </a:r>
          </a:p>
          <a:p>
            <a:r>
              <a:rPr lang="ru-RU" i="1" dirty="0"/>
              <a:t>&amp;</a:t>
            </a:r>
            <a:r>
              <a:rPr lang="ru-RU" i="1" dirty="0" err="1"/>
              <a:t>НаКлиенте</a:t>
            </a:r>
            <a:endParaRPr lang="ru-RU" i="1" dirty="0"/>
          </a:p>
          <a:p>
            <a:r>
              <a:rPr lang="ru-RU" i="1" dirty="0"/>
              <a:t>&amp;</a:t>
            </a:r>
            <a:r>
              <a:rPr lang="ru-RU" i="1" dirty="0" err="1"/>
              <a:t>НаСервере</a:t>
            </a:r>
            <a:endParaRPr lang="ru-RU" i="1" dirty="0"/>
          </a:p>
          <a:p>
            <a:r>
              <a:rPr lang="ru-RU" i="1" dirty="0"/>
              <a:t>&amp;</a:t>
            </a:r>
            <a:r>
              <a:rPr lang="ru-RU" i="1" dirty="0" err="1"/>
              <a:t>НаСервереБезКонтекста</a:t>
            </a:r>
            <a:endParaRPr lang="ru-RU" i="1" dirty="0"/>
          </a:p>
          <a:p>
            <a:r>
              <a:rPr lang="ru-RU" i="1" dirty="0"/>
              <a:t>&amp;</a:t>
            </a:r>
            <a:r>
              <a:rPr lang="ru-RU" i="1" dirty="0" err="1"/>
              <a:t>НаКлиентеНаСервереБезКонтекста</a:t>
            </a:r>
            <a:endParaRPr lang="ru-RU" i="1" dirty="0"/>
          </a:p>
          <a:p>
            <a:r>
              <a:rPr lang="ru-RU" i="1" dirty="0"/>
              <a:t>&amp;</a:t>
            </a:r>
            <a:r>
              <a:rPr lang="ru-RU" i="1" dirty="0" err="1"/>
              <a:t>НаКлиентеНаСервере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67754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50073-152B-40EF-9F37-C890B27B4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&amp;</a:t>
            </a:r>
            <a:r>
              <a:rPr lang="ru-RU" b="1" i="1" dirty="0" err="1"/>
              <a:t>НаКлиенте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49FE6-A925-4909-9862-871A21D8D9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/>
              <a:t>Директива </a:t>
            </a:r>
            <a:r>
              <a:rPr lang="ru-RU" b="1" i="1" dirty="0"/>
              <a:t>&amp;</a:t>
            </a:r>
            <a:r>
              <a:rPr lang="ru-RU" b="1" i="1" dirty="0" err="1"/>
              <a:t>НаКлиенте</a:t>
            </a:r>
            <a:r>
              <a:rPr lang="ru-RU" dirty="0"/>
              <a:t> указывает на то, что код функций/процедур будет выполняться в контексте клиентского приложения, где будут доступны только элементы, параметры и реквизиты формы.</a:t>
            </a:r>
            <a:br>
              <a:rPr lang="ru-RU" dirty="0"/>
            </a:br>
            <a:r>
              <a:rPr lang="ru-RU" i="1" dirty="0"/>
              <a:t>Доступны вызовы любых процедур модуля формы.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65130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1B46E-F56A-44C8-BCC3-C7081D7E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&amp;</a:t>
            </a:r>
            <a:r>
              <a:rPr lang="ru-RU" b="1" i="1" dirty="0" err="1"/>
              <a:t>НаСервере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16F62-FE93-4720-B7F1-73FEE33476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438595"/>
            <a:ext cx="7772400" cy="4572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При указании директивы </a:t>
            </a:r>
            <a:r>
              <a:rPr lang="ru-RU" b="1" i="1" dirty="0"/>
              <a:t>&amp;</a:t>
            </a:r>
            <a:r>
              <a:rPr lang="ru-RU" b="1" i="1" dirty="0" err="1"/>
              <a:t>НаСервере</a:t>
            </a:r>
            <a:r>
              <a:rPr lang="ru-RU" dirty="0"/>
              <a:t>, для процедур/функций будут доступны не только данные формы, но и возможность обращаться к данным базы. Выполнение кода будет происходить на сервере.</a:t>
            </a:r>
            <a:br>
              <a:rPr lang="ru-RU" dirty="0"/>
            </a:br>
            <a:r>
              <a:rPr lang="ru-RU" i="1" dirty="0"/>
              <a:t>Обращение к процедурам на клиенте уже не доступно.</a:t>
            </a:r>
            <a:r>
              <a:rPr lang="ru-RU" dirty="0"/>
              <a:t> Т.е., находясь на сервере, нельзя инициировать вызов клиентских процедур и функций.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sz="2400" i="1" dirty="0"/>
              <a:t>Начиная с платформы 8.3.10 стала доступна возможность получать данные с клиента на сервере, используя систему взаимодействия.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590288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ABF2D-40EE-4009-B82E-7C7C6A13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&amp;</a:t>
            </a:r>
            <a:r>
              <a:rPr lang="ru-RU" b="1" i="1" dirty="0" err="1"/>
              <a:t>НаСервереБезКонтекста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1CC1AD-256D-4C5B-9BC1-5FBD2C5A933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23528" y="1628800"/>
            <a:ext cx="8640960" cy="4572000"/>
          </a:xfrm>
        </p:spPr>
        <p:txBody>
          <a:bodyPr/>
          <a:lstStyle/>
          <a:p>
            <a:pPr algn="just"/>
            <a:r>
              <a:rPr lang="ru-RU" dirty="0"/>
              <a:t>Если указана</a:t>
            </a:r>
            <a:r>
              <a:rPr lang="en-US" dirty="0"/>
              <a:t> </a:t>
            </a:r>
            <a:r>
              <a:rPr lang="ru-RU" dirty="0"/>
              <a:t>директива </a:t>
            </a:r>
            <a:r>
              <a:rPr lang="ru-RU" b="1" i="1" dirty="0"/>
              <a:t>&amp;</a:t>
            </a:r>
            <a:r>
              <a:rPr lang="ru-RU" b="1" i="1" dirty="0" err="1"/>
              <a:t>НаСервереБезКонтекста</a:t>
            </a:r>
            <a:r>
              <a:rPr lang="ru-RU" dirty="0"/>
              <a:t>, это означает, что код будет выполняться на сервере, но доступа к контексту формы (реквизиты, параметры, элементы) уже не будет.</a:t>
            </a:r>
            <a:br>
              <a:rPr lang="ru-RU" dirty="0"/>
            </a:br>
            <a:r>
              <a:rPr lang="ru-RU" i="1" dirty="0"/>
              <a:t>Доступны вызовы только </a:t>
            </a:r>
            <a:r>
              <a:rPr lang="ru-RU" i="1" dirty="0" err="1"/>
              <a:t>внеконтекстных</a:t>
            </a:r>
            <a:r>
              <a:rPr lang="ru-RU" i="1" dirty="0"/>
              <a:t> процедур и функций.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696679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C6A92-BE0E-40A8-A8A4-38BE90B0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1143000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&amp;</a:t>
            </a:r>
            <a:r>
              <a:rPr lang="ru-RU" b="1" i="1" dirty="0" err="1"/>
              <a:t>НаКлиентеНаСервереБезКонтекста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875737-B50F-4F4C-83BE-503059DF28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/>
              <a:t>Директива</a:t>
            </a:r>
            <a:r>
              <a:rPr lang="ru-RU" b="1" i="1" dirty="0"/>
              <a:t> &amp;</a:t>
            </a:r>
            <a:r>
              <a:rPr lang="ru-RU" b="1" i="1" dirty="0" err="1"/>
              <a:t>НаКлиентеНаСервереБезКонтекста</a:t>
            </a:r>
            <a:r>
              <a:rPr lang="ru-RU" dirty="0"/>
              <a:t> необходима, если требуется выполнение процедуры/функции и на сервере и на клиенте. Данная директива используется редко, но является полезной и позволяет вместо двух процедур, для выполнения в разных контекстах, указать всего одну.</a:t>
            </a:r>
          </a:p>
        </p:txBody>
      </p:sp>
    </p:spTree>
    <p:extLst>
      <p:ext uri="{BB962C8B-B14F-4D97-AF65-F5344CB8AC3E}">
        <p14:creationId xmlns:p14="http://schemas.microsoft.com/office/powerpoint/2010/main" val="399332069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630BC-141A-4E76-AA50-B1608DF3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&amp;</a:t>
            </a:r>
            <a:r>
              <a:rPr lang="ru-RU" b="1" i="1" dirty="0" err="1"/>
              <a:t>НаКлиентеНаСервере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2C0EB1-57C9-4041-8F0A-11F91DD2C0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/>
              <a:t>Последняя директива </a:t>
            </a:r>
            <a:r>
              <a:rPr lang="ru-RU" b="1" i="1" dirty="0"/>
              <a:t>&amp;</a:t>
            </a:r>
            <a:r>
              <a:rPr lang="ru-RU" b="1" i="1" dirty="0" err="1"/>
              <a:t>НаКлиентеНаСервере</a:t>
            </a:r>
            <a:r>
              <a:rPr lang="ru-RU" dirty="0"/>
              <a:t> по сути аналогична </a:t>
            </a:r>
            <a:r>
              <a:rPr lang="ru-RU" i="1" dirty="0"/>
              <a:t>&amp;</a:t>
            </a:r>
            <a:r>
              <a:rPr lang="ru-RU" i="1" dirty="0" err="1"/>
              <a:t>НаКлиентеНаСервереБезКонтекста</a:t>
            </a:r>
            <a:r>
              <a:rPr lang="ru-RU" dirty="0"/>
              <a:t>, но доступна она только в модуле команд.</a:t>
            </a:r>
          </a:p>
          <a:p>
            <a:endParaRPr lang="ru-RU" dirty="0"/>
          </a:p>
          <a:p>
            <a:pPr marL="0" indent="0" algn="just">
              <a:buNone/>
            </a:pPr>
            <a:r>
              <a:rPr lang="ru-RU" i="1" dirty="0"/>
              <a:t>Если по ошибке не указать директиву, то платформа сама ее поставит. По умолчанию это директива &amp;</a:t>
            </a:r>
            <a:r>
              <a:rPr lang="ru-RU" i="1" dirty="0" err="1"/>
              <a:t>НаСервере</a:t>
            </a:r>
            <a:r>
              <a:rPr lang="ru-RU" i="1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673192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2A31E-CC69-4191-9E38-2DB1CB779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Инструкции препроцессора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00A175-A82C-4EA8-B391-881ACC8B6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/>
              <a:t>Помимо директив, существуют еще и </a:t>
            </a:r>
            <a:r>
              <a:rPr lang="ru-RU" b="1" i="1" dirty="0"/>
              <a:t>инструкции препроцессора</a:t>
            </a:r>
            <a:r>
              <a:rPr lang="ru-RU" dirty="0"/>
              <a:t>, которые обозначаются символом #. Они действуют на исходный текст модулей и выполняются перед компиляцией кода. В результате применения директив и инструкций, в скомпилированном модуле остается только то, что должно присутствовать в том или ином контексте.</a:t>
            </a:r>
          </a:p>
        </p:txBody>
      </p:sp>
    </p:spTree>
    <p:extLst>
      <p:ext uri="{BB962C8B-B14F-4D97-AF65-F5344CB8AC3E}">
        <p14:creationId xmlns:p14="http://schemas.microsoft.com/office/powerpoint/2010/main" val="353492422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F2465-A4F5-49A3-B198-A01D9B70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Контекстные и </a:t>
            </a:r>
            <a:r>
              <a:rPr lang="ru-RU" b="1" dirty="0" err="1"/>
              <a:t>внеконтекстные</a:t>
            </a:r>
            <a:r>
              <a:rPr lang="ru-RU" b="1" dirty="0"/>
              <a:t> вызовы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C10489-9147-45F3-A0D8-E47CE18099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"</a:t>
            </a:r>
            <a:r>
              <a:rPr lang="ru-RU" b="1" i="1" dirty="0"/>
              <a:t>Контекст</a:t>
            </a:r>
            <a:r>
              <a:rPr lang="ru-RU" dirty="0"/>
              <a:t>" - </a:t>
            </a:r>
            <a:r>
              <a:rPr lang="ru-RU" i="1" dirty="0"/>
              <a:t>это так называемое окружение, в котором доступны определенные свойства, методы, набор объектов встроенного языка, а также процедуры и функции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Контекст может быть </a:t>
            </a:r>
            <a:r>
              <a:rPr lang="ru-RU" i="1" dirty="0"/>
              <a:t>глобальным </a:t>
            </a:r>
            <a:r>
              <a:rPr lang="ru-RU" dirty="0"/>
              <a:t>и </a:t>
            </a:r>
            <a:r>
              <a:rPr lang="ru-RU" i="1" dirty="0"/>
              <a:t>локальным </a:t>
            </a:r>
            <a:r>
              <a:rPr lang="ru-RU" dirty="0"/>
              <a:t>(контекст конкретного модуля). Глобальный контекст доступен в любой точке конфигурации, локальный же в пределах одного модуля. В свою очередь, в пределах одного модуля, контекст также можно разделить на </a:t>
            </a:r>
            <a:r>
              <a:rPr lang="ru-RU" i="1" dirty="0"/>
              <a:t>клиентский </a:t>
            </a:r>
            <a:r>
              <a:rPr lang="ru-RU" dirty="0"/>
              <a:t>и </a:t>
            </a:r>
            <a:r>
              <a:rPr lang="ru-RU" i="1" dirty="0"/>
              <a:t>серверный</a:t>
            </a:r>
            <a:r>
              <a:rPr lang="ru-RU" dirty="0"/>
              <a:t>, т.е. процедуры и функции одного модуля могут быть выполнены в разных контекстах.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54544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F2BF9-DC0F-4B28-BCAD-3D9FDDD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403" y="12073"/>
            <a:ext cx="7772400" cy="1143000"/>
          </a:xfrm>
        </p:spPr>
        <p:txBody>
          <a:bodyPr/>
          <a:lstStyle/>
          <a:p>
            <a:r>
              <a:rPr lang="ru-RU" dirty="0"/>
              <a:t>Контекстный вызов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BF94F6-B1AF-461E-A61E-4E22FD03D5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1172084"/>
            <a:ext cx="8424936" cy="304900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2400" dirty="0"/>
              <a:t>Контекстный вызов формы является довольно затратным процессом, понять это можно при рассмотрении процесса взаимодействия клиентской и серверной части формы.</a:t>
            </a:r>
          </a:p>
          <a:p>
            <a:pPr algn="just"/>
            <a:r>
              <a:rPr lang="ru-RU" sz="2400" dirty="0"/>
              <a:t>Если для процедуры/функции указать директиву </a:t>
            </a:r>
            <a:r>
              <a:rPr lang="ru-RU" sz="2400" i="1" dirty="0"/>
              <a:t>&amp;</a:t>
            </a:r>
            <a:r>
              <a:rPr lang="ru-RU" sz="2400" i="1" dirty="0" err="1"/>
              <a:t>НаСервере</a:t>
            </a:r>
            <a:r>
              <a:rPr lang="ru-RU" sz="2400" dirty="0"/>
              <a:t>, то при ее вызове будет происходить передача всей формы на сервер, т.е. все реквизиты, параметры и элементы формы будут специальным образом упакованы и переданы на сервер. На сервере полученный "контейнер" распаковывается и дальше происходит инициализация модуля формы.</a:t>
            </a:r>
          </a:p>
          <a:p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527F09-ECC3-4003-9B4B-C3A28100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4251174"/>
            <a:ext cx="57816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5424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2444672-8529-4BF8-A9A6-863168A510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1600" y="1052736"/>
            <a:ext cx="7772400" cy="4572000"/>
          </a:xfrm>
        </p:spPr>
        <p:txBody>
          <a:bodyPr/>
          <a:lstStyle/>
          <a:p>
            <a:pPr algn="just"/>
            <a:r>
              <a:rPr lang="ru-RU" dirty="0"/>
              <a:t>После выполнения кода на сервере выполняется обратный процесс, происходит упаковка и передача на клиент контекста формы. На клиенте происходит распаковка и синхронизация данных формы. Контекст формы на сервере при этом уничтожается.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2067CB-2B9B-421A-A38D-22ED43EC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4077072"/>
            <a:ext cx="54578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5962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9761CA2-5A33-449F-9B80-60458D657E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9592" y="836712"/>
            <a:ext cx="7772400" cy="4572000"/>
          </a:xfrm>
        </p:spPr>
        <p:txBody>
          <a:bodyPr/>
          <a:lstStyle/>
          <a:p>
            <a:pPr algn="just"/>
            <a:r>
              <a:rPr lang="ru-RU" dirty="0"/>
              <a:t>Для уменьшения объема передаваемых данных на сервер как раз и используется </a:t>
            </a:r>
            <a:r>
              <a:rPr lang="ru-RU" dirty="0" err="1"/>
              <a:t>внеконтекстный</a:t>
            </a:r>
            <a:r>
              <a:rPr lang="ru-RU" dirty="0"/>
              <a:t> вызов, процедуры/функции при этом должны быть помечены директивой </a:t>
            </a:r>
            <a:r>
              <a:rPr lang="ru-RU" i="1" dirty="0"/>
              <a:t>&amp;</a:t>
            </a:r>
            <a:r>
              <a:rPr lang="ru-RU" i="1" dirty="0" err="1"/>
              <a:t>НаСервереБезКонтекста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EA7678-334C-4E0B-AF7E-8FDBC14D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645024"/>
            <a:ext cx="54387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283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CFBFA-2A75-4929-8FB8-38EFC0A5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Выбор контекста для общих модулей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8A3AE-11D6-4880-A9E8-B609A5350F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Ранее мы рассмотрели использование директив компиляции в модулях форм, но помимо модулей форм существуют и другие виды модулей:</a:t>
            </a:r>
          </a:p>
          <a:p>
            <a:r>
              <a:rPr lang="ru-RU" i="1" dirty="0"/>
              <a:t>Модуль управляемого приложения</a:t>
            </a:r>
            <a:endParaRPr lang="ru-RU" dirty="0"/>
          </a:p>
          <a:p>
            <a:r>
              <a:rPr lang="ru-RU" i="1" dirty="0"/>
              <a:t>Модуль обычного приложения</a:t>
            </a:r>
            <a:endParaRPr lang="ru-RU" dirty="0"/>
          </a:p>
          <a:p>
            <a:r>
              <a:rPr lang="ru-RU" i="1" dirty="0"/>
              <a:t>Модуль сеанса</a:t>
            </a:r>
            <a:endParaRPr lang="ru-RU" dirty="0"/>
          </a:p>
          <a:p>
            <a:r>
              <a:rPr lang="ru-RU" i="1" dirty="0"/>
              <a:t>Модуль внешнего соединения</a:t>
            </a:r>
            <a:endParaRPr lang="ru-RU" dirty="0"/>
          </a:p>
          <a:p>
            <a:r>
              <a:rPr lang="ru-RU" i="1" dirty="0"/>
              <a:t>Общие модули</a:t>
            </a:r>
            <a:endParaRPr lang="ru-RU" dirty="0"/>
          </a:p>
          <a:p>
            <a:r>
              <a:rPr lang="ru-RU" i="1" dirty="0"/>
              <a:t>Модули команд</a:t>
            </a:r>
            <a:endParaRPr lang="ru-RU" dirty="0"/>
          </a:p>
          <a:p>
            <a:r>
              <a:rPr lang="ru-RU" i="1" dirty="0"/>
              <a:t>Модули менеджера</a:t>
            </a:r>
            <a:endParaRPr lang="ru-RU" dirty="0"/>
          </a:p>
          <a:p>
            <a:r>
              <a:rPr lang="ru-RU" i="1" dirty="0"/>
              <a:t>Модуль объекта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99207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AA6EAE6-2274-4A1A-81DD-C2F942393B1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1560" y="548680"/>
            <a:ext cx="4968552" cy="5904656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/>
              <a:t>Нас интересует только общий модуль, так как именно для него имеется возможность указать, в каком контексте будет скомпилирован его экземпляр.</a:t>
            </a:r>
          </a:p>
          <a:p>
            <a:pPr algn="just"/>
            <a:r>
              <a:rPr lang="ru-RU" dirty="0"/>
              <a:t>Общие модули существуют отдельно, как объекты конфигурации и предназначены для процедур и функций, объединенных по сходным функциональным назначениям.</a:t>
            </a:r>
            <a:br>
              <a:rPr lang="ru-RU" dirty="0"/>
            </a:br>
            <a:r>
              <a:rPr lang="ru-RU" dirty="0"/>
              <a:t>Для них определен следующий набор свойств: </a:t>
            </a:r>
            <a:r>
              <a:rPr lang="ru-RU" i="1" dirty="0"/>
              <a:t>Клиент (Управляемое приложение), Клиент (Обычное приложение) Сервер, Внешнее соединение, Вызов сервера, Привилегированный, Глобальный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4BFBB7-1EFA-41B7-AC74-9F4E48670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2276872"/>
            <a:ext cx="33242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429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FC44DB7-476E-4B41-A97F-90EF7C8F53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548680"/>
            <a:ext cx="7772400" cy="4572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Если установить флаг </a:t>
            </a:r>
            <a:r>
              <a:rPr lang="ru-RU" b="1" i="1" dirty="0"/>
              <a:t>Клиент (Управляемое приложение)</a:t>
            </a:r>
            <a:r>
              <a:rPr lang="ru-RU" dirty="0"/>
              <a:t>, то все процедуры и функции будут выполняться в контекстах "тонкого клиента", веб-клиента и "толстого клиента" в режиме управляемого приложения, при этом явно указывать директиву компиляции </a:t>
            </a:r>
            <a:r>
              <a:rPr lang="ru-RU" i="1" dirty="0"/>
              <a:t>&amp;</a:t>
            </a:r>
            <a:r>
              <a:rPr lang="ru-RU" i="1" dirty="0" err="1"/>
              <a:t>НаКлиенте</a:t>
            </a:r>
            <a:r>
              <a:rPr lang="ru-RU" dirty="0"/>
              <a:t> не требуется.</a:t>
            </a:r>
          </a:p>
          <a:p>
            <a:pPr algn="just"/>
            <a:r>
              <a:rPr lang="ru-RU" dirty="0"/>
              <a:t>Установка флага </a:t>
            </a:r>
            <a:r>
              <a:rPr lang="ru-RU" b="1" i="1" dirty="0"/>
              <a:t>Клиент (Обычное приложение)</a:t>
            </a:r>
            <a:r>
              <a:rPr lang="ru-RU" dirty="0"/>
              <a:t> означает использование кода в "толстом клиенте" в режиме обычного приложения.</a:t>
            </a:r>
          </a:p>
          <a:p>
            <a:pPr algn="just"/>
            <a:r>
              <a:rPr lang="ru-RU" dirty="0"/>
              <a:t>Установка флага </a:t>
            </a:r>
            <a:r>
              <a:rPr lang="ru-RU" b="1" i="1" dirty="0"/>
              <a:t>Сервер</a:t>
            </a:r>
            <a:r>
              <a:rPr lang="ru-RU" dirty="0"/>
              <a:t> позволяет выполнять код в контексте сервера и указание директивы </a:t>
            </a:r>
            <a:r>
              <a:rPr lang="ru-RU" i="1" dirty="0"/>
              <a:t>&amp;</a:t>
            </a:r>
            <a:r>
              <a:rPr lang="ru-RU" i="1" dirty="0" err="1"/>
              <a:t>НаСервере</a:t>
            </a:r>
            <a:r>
              <a:rPr lang="ru-RU" dirty="0"/>
              <a:t> также не требуется.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263115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CE6D530-E8DB-401A-A275-4BFFC24F16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7584" y="476672"/>
            <a:ext cx="7772400" cy="6048672"/>
          </a:xfrm>
        </p:spPr>
        <p:txBody>
          <a:bodyPr>
            <a:normAutofit fontScale="85000" lnSpcReduction="10000"/>
          </a:bodyPr>
          <a:lstStyle/>
          <a:p>
            <a:r>
              <a:rPr lang="ru-RU" sz="2400" dirty="0"/>
              <a:t>Свойство </a:t>
            </a:r>
            <a:r>
              <a:rPr lang="ru-RU" sz="2400" b="1" i="1" dirty="0"/>
              <a:t>Внешнее соединение</a:t>
            </a:r>
            <a:r>
              <a:rPr lang="ru-RU" sz="2400" dirty="0"/>
              <a:t> используется для выполнения процедур и функций при подключении внешним источником, например COM.</a:t>
            </a:r>
          </a:p>
          <a:p>
            <a:pPr algn="just"/>
            <a:r>
              <a:rPr lang="ru-RU" sz="2400" dirty="0"/>
              <a:t>Следующим важным свойством является </a:t>
            </a:r>
            <a:r>
              <a:rPr lang="ru-RU" sz="2400" b="1" i="1" dirty="0"/>
              <a:t>Вызов сервера</a:t>
            </a:r>
            <a:r>
              <a:rPr lang="ru-RU" sz="2400" dirty="0"/>
              <a:t>. Оно доступно только в модулях, с установленным признаком </a:t>
            </a:r>
            <a:r>
              <a:rPr lang="ru-RU" sz="2400" i="1" dirty="0"/>
              <a:t>Сервер </a:t>
            </a:r>
            <a:r>
              <a:rPr lang="ru-RU" sz="2400" dirty="0"/>
              <a:t>и позволяет на клиенте вызывать экспортные процедуры и функции этого серверного модуля.</a:t>
            </a:r>
          </a:p>
          <a:p>
            <a:pPr algn="just"/>
            <a:r>
              <a:rPr lang="ru-RU" sz="2400" dirty="0"/>
              <a:t>Выполнение в </a:t>
            </a:r>
            <a:r>
              <a:rPr lang="ru-RU" sz="2400" b="1" i="1" dirty="0"/>
              <a:t>Привилегированном </a:t>
            </a:r>
            <a:r>
              <a:rPr lang="ru-RU" sz="2400" dirty="0"/>
              <a:t>режиме (при установке свойства </a:t>
            </a:r>
            <a:r>
              <a:rPr lang="ru-RU" sz="2400" b="1" i="1" dirty="0"/>
              <a:t>Привилегированный</a:t>
            </a:r>
            <a:r>
              <a:rPr lang="ru-RU" sz="2400" dirty="0"/>
              <a:t>) означает, что разрешены любые операции и проверка доступа на уровне записей, а также то, что контроль прав производиться не будет.</a:t>
            </a:r>
          </a:p>
          <a:p>
            <a:endParaRPr lang="ru-RU" sz="2400" dirty="0"/>
          </a:p>
          <a:p>
            <a:pPr marL="0" indent="0" algn="just">
              <a:buNone/>
            </a:pPr>
            <a:r>
              <a:rPr lang="ru-RU" sz="2400" i="1" dirty="0"/>
              <a:t>Прим.: Свойство </a:t>
            </a:r>
            <a:r>
              <a:rPr lang="ru-RU" sz="2400" b="1" i="1" dirty="0"/>
              <a:t>Вызов сервера</a:t>
            </a:r>
            <a:r>
              <a:rPr lang="ru-RU" sz="2400" i="1" dirty="0"/>
              <a:t> следует устанавливать только, если действительно есть необходимость вызова из клиентского кода. Установка данного свойства не безопасна, так как клиентское приложение в режиме "тонкого клиента" и веб-клиента обращается к серверу по средствам открытого протокола </a:t>
            </a:r>
            <a:r>
              <a:rPr lang="ru-RU" sz="2400" i="1" dirty="0" err="1"/>
              <a:t>http</a:t>
            </a:r>
            <a:r>
              <a:rPr lang="ru-RU" sz="2400" i="1" dirty="0"/>
              <a:t> и злоумышленник может получить доступ к пользовательским данным путем обращения к серверу с помощью сторонних программ.</a:t>
            </a:r>
          </a:p>
        </p:txBody>
      </p:sp>
    </p:spTree>
    <p:extLst>
      <p:ext uri="{BB962C8B-B14F-4D97-AF65-F5344CB8AC3E}">
        <p14:creationId xmlns:p14="http://schemas.microsoft.com/office/powerpoint/2010/main" val="10820359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A7E47-1290-42B8-8E60-3574B3FA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7142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Оптимизация клиент-серверного взаимодействия в управляемых формах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58C7E5-56F2-4FE7-B0B3-B823B8725FE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5648" y="2132856"/>
            <a:ext cx="7772400" cy="45720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/>
              <a:t>Интерфейс 1С в режиме управляемого приложения ориентирован на возможность работы через интернет и по низкоскоростным каналам, можно определить некоторые рекомендации по оптимизации:</a:t>
            </a:r>
          </a:p>
          <a:p>
            <a:pPr algn="just"/>
            <a:r>
              <a:rPr lang="ru-RU" dirty="0"/>
              <a:t>Стараться </a:t>
            </a:r>
            <a:r>
              <a:rPr lang="ru-RU" i="1" dirty="0"/>
              <a:t>уменьшать число серверных вызовов</a:t>
            </a:r>
            <a:r>
              <a:rPr lang="ru-RU" dirty="0"/>
              <a:t>. По-хорошему, открытие формы, да и в целом, каждое действие пользователя должно происходить за один серверный вызов, однако обязательным данное требование не является.</a:t>
            </a:r>
          </a:p>
          <a:p>
            <a:pPr algn="just"/>
            <a:r>
              <a:rPr lang="ru-RU" dirty="0"/>
              <a:t>Необходимо пытаться </a:t>
            </a:r>
            <a:r>
              <a:rPr lang="ru-RU" i="1" dirty="0"/>
              <a:t>уменьшать объем передаваемых данных</a:t>
            </a:r>
            <a:r>
              <a:rPr lang="ru-RU" dirty="0"/>
              <a:t> между клиентом и сервером , например используя бесконтекстные вызовы.</a:t>
            </a:r>
          </a:p>
          <a:p>
            <a:pPr algn="just"/>
            <a:r>
              <a:rPr lang="ru-RU" dirty="0"/>
              <a:t>По возможности </a:t>
            </a:r>
            <a:r>
              <a:rPr lang="ru-RU" i="1" dirty="0"/>
              <a:t>реализовывать алгоритмы с минимальным включением кода на клиенте</a:t>
            </a:r>
            <a:r>
              <a:rPr lang="ru-RU" dirty="0"/>
              <a:t>, но и не забывать при этом уменьшать количество обращений на сервер.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04052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E6427-C41E-4D76-A642-D5748262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1466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Объединение нескольких вызовов сервера в один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AA287-C0B8-411D-8EE9-3647EFA612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7320" y="1143000"/>
            <a:ext cx="8496944" cy="4572000"/>
          </a:xfrm>
        </p:spPr>
        <p:txBody>
          <a:bodyPr/>
          <a:lstStyle/>
          <a:p>
            <a:r>
              <a:rPr lang="ru-RU" dirty="0"/>
              <a:t>Имеется задача, в которой нам требуется вывести артикул, единицу измерения и цену в строке при выборе товара.</a:t>
            </a:r>
            <a:br>
              <a:rPr lang="ru-RU" dirty="0"/>
            </a:br>
            <a:r>
              <a:rPr lang="ru-RU" dirty="0"/>
              <a:t>Сразу определимся, что на клиенте данные по ссылке мы получить не сможем и нам придется "сходить" за ними на сервер.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DF59F9-CC34-4246-9845-979F3F72F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571301"/>
            <a:ext cx="5688632" cy="317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9244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3FDFED-3700-4394-8280-4A2F643CCA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928992" cy="63367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Рассмотрим несколько вариантов решения: </a:t>
            </a:r>
            <a:br>
              <a:rPr lang="ru-RU" sz="1800" dirty="0"/>
            </a:br>
            <a:r>
              <a:rPr lang="ru-RU" sz="1800" i="1" u="sng" dirty="0"/>
              <a:t>Первый:</a:t>
            </a:r>
            <a:r>
              <a:rPr lang="ru-RU" sz="1800" dirty="0"/>
              <a:t> Создадим общий модуль "</a:t>
            </a:r>
            <a:r>
              <a:rPr lang="ru-RU" sz="1800" dirty="0" err="1"/>
              <a:t>РаботаСТЧ</a:t>
            </a:r>
            <a:r>
              <a:rPr lang="ru-RU" sz="1800" dirty="0"/>
              <a:t>" и установим у него галочки </a:t>
            </a:r>
            <a:r>
              <a:rPr lang="ru-RU" sz="1800" i="1" dirty="0"/>
              <a:t>Сервер </a:t>
            </a:r>
            <a:r>
              <a:rPr lang="ru-RU" sz="1800" dirty="0"/>
              <a:t>и </a:t>
            </a:r>
            <a:r>
              <a:rPr lang="ru-RU" sz="1800" i="1" dirty="0"/>
              <a:t>Вызов сервера</a:t>
            </a:r>
            <a:r>
              <a:rPr lang="ru-RU" sz="1800" dirty="0"/>
              <a:t>. В него добавим экспортную функцию, возвращающую данные по передаваемой в нее ссылке.</a:t>
            </a:r>
          </a:p>
          <a:p>
            <a:pPr marL="0" indent="0">
              <a:buNone/>
            </a:pPr>
            <a:r>
              <a:rPr lang="ru-RU" sz="1800" i="1" dirty="0"/>
              <a:t>Функция </a:t>
            </a:r>
            <a:r>
              <a:rPr lang="ru-RU" sz="1800" i="1" dirty="0" err="1"/>
              <a:t>ПолучитьДанные</a:t>
            </a:r>
            <a:r>
              <a:rPr lang="ru-RU" sz="1800" i="1" dirty="0"/>
              <a:t>(Ссылка, </a:t>
            </a:r>
            <a:r>
              <a:rPr lang="ru-RU" sz="1800" i="1" dirty="0" err="1"/>
              <a:t>ИмяРеквизита</a:t>
            </a:r>
            <a:r>
              <a:rPr lang="ru-RU" sz="1800" i="1" dirty="0"/>
              <a:t>) Экспорт                     	</a:t>
            </a:r>
          </a:p>
          <a:p>
            <a:pPr marL="0" indent="0">
              <a:buNone/>
            </a:pPr>
            <a:r>
              <a:rPr lang="ru-RU" sz="1800" i="1" dirty="0"/>
              <a:t>Возврат Ссылка[</a:t>
            </a:r>
            <a:r>
              <a:rPr lang="ru-RU" sz="1800" i="1" dirty="0" err="1"/>
              <a:t>ИмяРеквизита</a:t>
            </a:r>
            <a:r>
              <a:rPr lang="ru-RU" sz="1800" i="1" dirty="0"/>
              <a:t>]; </a:t>
            </a:r>
          </a:p>
          <a:p>
            <a:pPr marL="0" indent="0">
              <a:buNone/>
            </a:pPr>
            <a:r>
              <a:rPr lang="ru-RU" sz="1800" i="1" dirty="0" err="1"/>
              <a:t>КонецФункции</a:t>
            </a:r>
            <a:endParaRPr lang="ru-RU" sz="1800" i="1" dirty="0"/>
          </a:p>
          <a:p>
            <a:pPr marL="0" indent="0">
              <a:buNone/>
            </a:pPr>
            <a:r>
              <a:rPr lang="ru-RU" sz="1800" dirty="0"/>
              <a:t>В модуле формы, в обработчике события </a:t>
            </a:r>
            <a:r>
              <a:rPr lang="ru-RU" sz="1800" dirty="0" err="1"/>
              <a:t>ПриИзменении</a:t>
            </a:r>
            <a:r>
              <a:rPr lang="ru-RU" sz="1800" dirty="0"/>
              <a:t>() для поля Номенклатура добавим код, в котором и будем вызывать экспортную процедуру из общего модуля.</a:t>
            </a:r>
          </a:p>
          <a:p>
            <a:pPr marL="0" indent="0">
              <a:buNone/>
            </a:pPr>
            <a:r>
              <a:rPr lang="ru-RU" sz="1800" i="1" dirty="0"/>
              <a:t>&amp;</a:t>
            </a:r>
            <a:r>
              <a:rPr lang="ru-RU" sz="1800" i="1" dirty="0" err="1"/>
              <a:t>НаКлиенте</a:t>
            </a:r>
            <a:r>
              <a:rPr lang="ru-RU" sz="1800" i="1" dirty="0"/>
              <a:t> </a:t>
            </a:r>
          </a:p>
          <a:p>
            <a:pPr marL="0" indent="0">
              <a:buNone/>
            </a:pPr>
            <a:r>
              <a:rPr lang="ru-RU" sz="1800" i="1" dirty="0" err="1"/>
              <a:t>ПроцедураТоварыНоменклатураПриИзменении</a:t>
            </a:r>
            <a:r>
              <a:rPr lang="ru-RU" sz="1800" i="1" dirty="0"/>
              <a:t>(Элемент)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</a:t>
            </a:r>
            <a:r>
              <a:rPr lang="ru-RU" sz="1800" i="1" dirty="0"/>
              <a:t> = </a:t>
            </a:r>
            <a:r>
              <a:rPr lang="ru-RU" sz="1800" i="1" dirty="0" err="1"/>
              <a:t>Элементы.Товары.ТекущиеДанные</a:t>
            </a:r>
            <a:r>
              <a:rPr lang="ru-RU" sz="1800" i="1" dirty="0"/>
              <a:t>;     </a:t>
            </a:r>
          </a:p>
          <a:p>
            <a:pPr marL="0" indent="0">
              <a:buNone/>
            </a:pPr>
            <a:r>
              <a:rPr lang="ru-RU" sz="1800" i="1" dirty="0"/>
              <a:t>Номенклатура = </a:t>
            </a:r>
            <a:r>
              <a:rPr lang="ru-RU" sz="1800" i="1" dirty="0" err="1"/>
              <a:t>ДанныеТекСтроки.Номенклатура</a:t>
            </a:r>
            <a:r>
              <a:rPr lang="ru-RU" sz="1800" i="1" dirty="0"/>
              <a:t>;     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ДанныеТекСтроки.Артикул</a:t>
            </a:r>
            <a:r>
              <a:rPr lang="ru-RU" sz="1800" i="1" dirty="0"/>
              <a:t> = </a:t>
            </a:r>
            <a:r>
              <a:rPr lang="ru-RU" sz="1800" i="1" dirty="0" err="1"/>
              <a:t>РаботаСТЧ.ПолучитьДанные</a:t>
            </a:r>
            <a:r>
              <a:rPr lang="ru-RU" sz="1800" i="1" dirty="0"/>
              <a:t>(</a:t>
            </a:r>
            <a:r>
              <a:rPr lang="ru-RU" sz="1800" i="1" dirty="0" err="1"/>
              <a:t>Номенклатура,"Артикул</a:t>
            </a:r>
            <a:r>
              <a:rPr lang="ru-RU" sz="1800" i="1" dirty="0"/>
              <a:t>");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ДанныеТекСтроки.ЕдиницаИзмерения</a:t>
            </a:r>
            <a:r>
              <a:rPr lang="ru-RU" sz="1800" i="1" dirty="0"/>
              <a:t> = </a:t>
            </a:r>
            <a:r>
              <a:rPr lang="ru-RU" sz="1800" i="1" dirty="0" err="1"/>
              <a:t>РаботаСТЧ.ПолучитьДанные</a:t>
            </a:r>
            <a:r>
              <a:rPr lang="ru-RU" sz="1800" i="1" dirty="0"/>
              <a:t>(Номенклатура,"</a:t>
            </a:r>
            <a:r>
              <a:rPr lang="ru-RU" sz="1800" i="1" dirty="0" err="1"/>
              <a:t>ЕдиницаИзмерения</a:t>
            </a:r>
            <a:r>
              <a:rPr lang="ru-RU" sz="1800" i="1" dirty="0"/>
              <a:t>");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ДанныеТекСтроки.Цена</a:t>
            </a:r>
            <a:r>
              <a:rPr lang="ru-RU" sz="1800" i="1" dirty="0"/>
              <a:t> = </a:t>
            </a:r>
            <a:r>
              <a:rPr lang="ru-RU" sz="1800" i="1" dirty="0" err="1"/>
              <a:t>РаботаСТЧ.ПолучитьДанные</a:t>
            </a:r>
            <a:r>
              <a:rPr lang="ru-RU" sz="1800" i="1" dirty="0"/>
              <a:t>(</a:t>
            </a:r>
            <a:r>
              <a:rPr lang="ru-RU" sz="1800" i="1" dirty="0" err="1"/>
              <a:t>Номенклатура,"Цена</a:t>
            </a:r>
            <a:r>
              <a:rPr lang="ru-RU" sz="1800" i="1" dirty="0"/>
              <a:t>"); </a:t>
            </a:r>
          </a:p>
          <a:p>
            <a:pPr marL="0" indent="0">
              <a:buNone/>
            </a:pPr>
            <a:r>
              <a:rPr lang="ru-RU" sz="1800" i="1" dirty="0" err="1"/>
              <a:t>КонецПроцедуры</a:t>
            </a:r>
            <a:endParaRPr lang="ru-RU" sz="1800" i="1" dirty="0"/>
          </a:p>
        </p:txBody>
      </p:sp>
    </p:spTree>
    <p:extLst>
      <p:ext uri="{BB962C8B-B14F-4D97-AF65-F5344CB8AC3E}">
        <p14:creationId xmlns:p14="http://schemas.microsoft.com/office/powerpoint/2010/main" val="418165803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2B4162-A188-4512-82FB-E74D5C1BF3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66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i="1" u="sng" dirty="0"/>
              <a:t>Второй:</a:t>
            </a:r>
            <a:r>
              <a:rPr lang="ru-RU" sz="1800" dirty="0"/>
              <a:t> В процедуре </a:t>
            </a:r>
            <a:r>
              <a:rPr lang="ru-RU" sz="1800" dirty="0" err="1"/>
              <a:t>ПриИзменении</a:t>
            </a:r>
            <a:r>
              <a:rPr lang="ru-RU" sz="1800" dirty="0"/>
              <a:t>() сделаем теперь вызов функции, которая вернет структуру со всеми нужными реквизитами.</a:t>
            </a:r>
          </a:p>
          <a:p>
            <a:pPr marL="0" indent="0">
              <a:buNone/>
            </a:pPr>
            <a:r>
              <a:rPr lang="ru-RU" sz="1800" i="1" dirty="0"/>
              <a:t>&amp;</a:t>
            </a:r>
            <a:r>
              <a:rPr lang="ru-RU" sz="1800" i="1" dirty="0" err="1"/>
              <a:t>НаКлиенте</a:t>
            </a:r>
            <a:r>
              <a:rPr lang="ru-RU" sz="1800" i="1" dirty="0"/>
              <a:t> </a:t>
            </a:r>
          </a:p>
          <a:p>
            <a:pPr marL="0" indent="0">
              <a:buNone/>
            </a:pPr>
            <a:r>
              <a:rPr lang="ru-RU" sz="1800" i="1" dirty="0"/>
              <a:t>Процедура </a:t>
            </a:r>
            <a:r>
              <a:rPr lang="ru-RU" sz="1800" i="1" dirty="0" err="1"/>
              <a:t>ТоварыНоменклатураПриИзменении</a:t>
            </a:r>
            <a:r>
              <a:rPr lang="ru-RU" sz="1800" i="1" dirty="0"/>
              <a:t>(Элемент)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</a:t>
            </a:r>
            <a:r>
              <a:rPr lang="ru-RU" sz="1800" i="1" dirty="0"/>
              <a:t> = </a:t>
            </a:r>
            <a:r>
              <a:rPr lang="ru-RU" sz="1800" i="1" dirty="0" err="1"/>
              <a:t>Элементы.Товары.ТекущиеДанные</a:t>
            </a:r>
            <a:r>
              <a:rPr lang="ru-RU" sz="1800" i="1" dirty="0"/>
              <a:t>;     </a:t>
            </a:r>
          </a:p>
          <a:p>
            <a:pPr marL="0" indent="0">
              <a:buNone/>
            </a:pPr>
            <a:r>
              <a:rPr lang="ru-RU" sz="1800" i="1" dirty="0" err="1"/>
              <a:t>РеквизитыТовара</a:t>
            </a:r>
            <a:r>
              <a:rPr lang="ru-RU" sz="1800" i="1" dirty="0"/>
              <a:t> = </a:t>
            </a:r>
            <a:r>
              <a:rPr lang="ru-RU" sz="1800" i="1" dirty="0" err="1"/>
              <a:t>РаботаСТЧ.ПолучитьДанные</a:t>
            </a:r>
            <a:r>
              <a:rPr lang="ru-RU" sz="1800" i="1" dirty="0"/>
              <a:t>(</a:t>
            </a:r>
            <a:r>
              <a:rPr lang="ru-RU" sz="1800" i="1" dirty="0" err="1"/>
              <a:t>ДанныеТекСтроки.Номенклатура</a:t>
            </a:r>
            <a:r>
              <a:rPr lang="ru-RU" sz="1800" i="1" dirty="0"/>
              <a:t>);     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ДанныеТекСтроки.Артикул</a:t>
            </a:r>
            <a:r>
              <a:rPr lang="ru-RU" sz="1800" i="1" dirty="0"/>
              <a:t> = </a:t>
            </a:r>
            <a:r>
              <a:rPr lang="ru-RU" sz="1800" i="1" dirty="0" err="1"/>
              <a:t>РеквизитыТовара.Артикул</a:t>
            </a:r>
            <a:r>
              <a:rPr lang="ru-RU" sz="1800" i="1" dirty="0"/>
              <a:t>;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ДанныеТекСтроки.ЕдиницаИзмерения</a:t>
            </a:r>
            <a:r>
              <a:rPr lang="ru-RU" sz="1800" i="1" dirty="0"/>
              <a:t> = </a:t>
            </a:r>
            <a:r>
              <a:rPr lang="ru-RU" sz="1800" i="1" dirty="0" err="1"/>
              <a:t>РеквизитыТовара.ЕдиницаИзмерения</a:t>
            </a:r>
            <a:r>
              <a:rPr lang="ru-RU" sz="1800" i="1" dirty="0"/>
              <a:t>;     </a:t>
            </a:r>
          </a:p>
          <a:p>
            <a:pPr marL="0" indent="0">
              <a:buNone/>
            </a:pPr>
            <a:r>
              <a:rPr lang="ru-RU" sz="1800" i="1" dirty="0" err="1"/>
              <a:t>ДанныеТекСтроки.Цена</a:t>
            </a:r>
            <a:r>
              <a:rPr lang="ru-RU" sz="1800" i="1" dirty="0"/>
              <a:t> = </a:t>
            </a:r>
            <a:r>
              <a:rPr lang="ru-RU" sz="1800" i="1" dirty="0" err="1"/>
              <a:t>РеквизитыТовара.Цена</a:t>
            </a:r>
            <a:r>
              <a:rPr lang="ru-RU" sz="1800" i="1" dirty="0"/>
              <a:t>; </a:t>
            </a:r>
          </a:p>
          <a:p>
            <a:pPr marL="0" indent="0">
              <a:buNone/>
            </a:pPr>
            <a:r>
              <a:rPr lang="ru-RU" sz="1800" i="1" dirty="0" err="1"/>
              <a:t>КонецПроцедуры</a:t>
            </a:r>
            <a:endParaRPr lang="ru-RU" sz="1800" i="1" dirty="0"/>
          </a:p>
          <a:p>
            <a:pPr marL="0" indent="0">
              <a:buNone/>
            </a:pPr>
            <a:r>
              <a:rPr lang="ru-RU" sz="1800" dirty="0"/>
              <a:t>	В экспортную функцию также внесем поправки:</a:t>
            </a:r>
          </a:p>
          <a:p>
            <a:pPr marL="0" indent="0">
              <a:buNone/>
            </a:pPr>
            <a:r>
              <a:rPr lang="ru-RU" sz="1800" i="1" dirty="0"/>
              <a:t>Функция </a:t>
            </a:r>
            <a:r>
              <a:rPr lang="ru-RU" sz="1800" i="1" dirty="0" err="1"/>
              <a:t>ПолучитьДанные</a:t>
            </a:r>
            <a:r>
              <a:rPr lang="ru-RU" sz="1800" i="1" dirty="0"/>
              <a:t>(Ссылка) Экспорт       </a:t>
            </a:r>
          </a:p>
          <a:p>
            <a:pPr marL="0" indent="0">
              <a:buNone/>
            </a:pPr>
            <a:r>
              <a:rPr lang="ru-RU" sz="1800" i="1" dirty="0" err="1"/>
              <a:t>ДанныеРеквизитов</a:t>
            </a:r>
            <a:r>
              <a:rPr lang="ru-RU" sz="1800" i="1" dirty="0"/>
              <a:t> = Новый Структура;       </a:t>
            </a:r>
          </a:p>
          <a:p>
            <a:pPr marL="0" indent="0">
              <a:buNone/>
            </a:pPr>
            <a:r>
              <a:rPr lang="ru-RU" sz="1800" i="1" dirty="0" err="1"/>
              <a:t>ДанныеРеквизитов.Вставить</a:t>
            </a:r>
            <a:r>
              <a:rPr lang="ru-RU" sz="1800" i="1" dirty="0"/>
              <a:t>("Артикул",</a:t>
            </a:r>
            <a:r>
              <a:rPr lang="ru-RU" sz="1800" i="1" dirty="0" err="1"/>
              <a:t>Ссылка.Артикул</a:t>
            </a:r>
            <a:r>
              <a:rPr lang="ru-RU" sz="1800" i="1" dirty="0"/>
              <a:t>);       </a:t>
            </a:r>
          </a:p>
          <a:p>
            <a:pPr marL="0" indent="0">
              <a:buNone/>
            </a:pPr>
            <a:r>
              <a:rPr lang="ru-RU" sz="1800" i="1" dirty="0" err="1"/>
              <a:t>ДанныеРеквизитов.Вставить</a:t>
            </a:r>
            <a:r>
              <a:rPr lang="ru-RU" sz="1800" i="1" dirty="0"/>
              <a:t>("</a:t>
            </a:r>
            <a:r>
              <a:rPr lang="ru-RU" sz="1800" i="1" dirty="0" err="1"/>
              <a:t>ЕдиницаИзмерения</a:t>
            </a:r>
            <a:r>
              <a:rPr lang="ru-RU" sz="1800" i="1" dirty="0"/>
              <a:t>",</a:t>
            </a:r>
            <a:r>
              <a:rPr lang="ru-RU" sz="1800" i="1" dirty="0" err="1"/>
              <a:t>Ссылка.ЕдиницаИзмерения</a:t>
            </a:r>
            <a:r>
              <a:rPr lang="ru-RU" sz="1800" i="1" dirty="0"/>
              <a:t>);       </a:t>
            </a:r>
            <a:r>
              <a:rPr lang="ru-RU" sz="1800" i="1" dirty="0" err="1"/>
              <a:t>ДанныеРеквизитов.Вставить</a:t>
            </a:r>
            <a:r>
              <a:rPr lang="ru-RU" sz="1800" i="1" dirty="0"/>
              <a:t>("Цена",</a:t>
            </a:r>
            <a:r>
              <a:rPr lang="ru-RU" sz="1800" i="1" dirty="0" err="1"/>
              <a:t>Ссылка.Цена</a:t>
            </a:r>
            <a:r>
              <a:rPr lang="ru-RU" sz="1800" i="1" dirty="0"/>
              <a:t>);              </a:t>
            </a:r>
          </a:p>
          <a:p>
            <a:pPr marL="0" indent="0">
              <a:buNone/>
            </a:pPr>
            <a:r>
              <a:rPr lang="ru-RU" sz="1800" i="1" dirty="0"/>
              <a:t>Возврат </a:t>
            </a:r>
            <a:r>
              <a:rPr lang="ru-RU" sz="1800" i="1" dirty="0" err="1"/>
              <a:t>ДанныеРеквизитов</a:t>
            </a:r>
            <a:r>
              <a:rPr lang="ru-RU" sz="1800" i="1" dirty="0"/>
              <a:t>; </a:t>
            </a:r>
          </a:p>
          <a:p>
            <a:pPr marL="0" indent="0">
              <a:buNone/>
            </a:pPr>
            <a:r>
              <a:rPr lang="ru-RU" sz="1800" i="1" dirty="0" err="1"/>
              <a:t>КонецФункции</a:t>
            </a:r>
            <a:endParaRPr lang="ru-RU" sz="1800" i="1" dirty="0"/>
          </a:p>
        </p:txBody>
      </p:sp>
    </p:spTree>
    <p:extLst>
      <p:ext uri="{BB962C8B-B14F-4D97-AF65-F5344CB8AC3E}">
        <p14:creationId xmlns:p14="http://schemas.microsoft.com/office/powerpoint/2010/main" val="11772932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B995E39-816C-4A17-B4D0-662FD740CFA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052736"/>
            <a:ext cx="7772400" cy="496706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При анализе работы обоих вариантов видно, что более производительным является второй, так как вызов сервера происходит всего один раз, вместо трех.</a:t>
            </a:r>
            <a:br>
              <a:rPr lang="ru-RU" dirty="0"/>
            </a:br>
            <a:r>
              <a:rPr lang="ru-RU" dirty="0"/>
              <a:t>Стоит так же отметить, что в экспортной функции мы получали реквизиты по ссылке. Данная возможность является удобной, но не всегда эффективной, так как происходит загрузка всего объекта в память и при большом количестве реквизитов это может сказаться на производительности. Поэтому, рекомендуется вместо обращения по ссылке использовать запросы.</a:t>
            </a:r>
          </a:p>
        </p:txBody>
      </p:sp>
    </p:spTree>
    <p:extLst>
      <p:ext uri="{BB962C8B-B14F-4D97-AF65-F5344CB8AC3E}">
        <p14:creationId xmlns:p14="http://schemas.microsoft.com/office/powerpoint/2010/main" val="155898875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0108A-5397-4258-9CCB-F9921EA8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Использование </a:t>
            </a:r>
            <a:r>
              <a:rPr lang="ru-RU" b="1" dirty="0" err="1"/>
              <a:t>внеконтекстных</a:t>
            </a:r>
            <a:r>
              <a:rPr lang="ru-RU" b="1" dirty="0"/>
              <a:t> процедур или функций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92E7D8-5274-4FBD-8B50-CD9DDA75B6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1560" y="1447800"/>
            <a:ext cx="807524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Предположим, что у нас есть периодический регистр с ценами. При выборе номенклатуры в табличной части документа необходимо, чтобы цена автоматически проставлялась из этого регистра, на дату документа.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0D2365-2334-42BB-9013-6FE9EB263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573016"/>
            <a:ext cx="5256584" cy="314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040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2F34AA3-D2FE-48C2-9DE0-53B895F853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404664"/>
            <a:ext cx="7772400" cy="45720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Рассмотрим примеры: </a:t>
            </a:r>
            <a:br>
              <a:rPr lang="ru-RU" dirty="0"/>
            </a:br>
            <a:r>
              <a:rPr lang="ru-RU" i="1" u="sng" dirty="0"/>
              <a:t>Первый:</a:t>
            </a:r>
            <a:r>
              <a:rPr lang="ru-RU" u="sng" dirty="0"/>
              <a:t> </a:t>
            </a:r>
            <a:r>
              <a:rPr lang="ru-RU" dirty="0"/>
              <a:t>Так как нам необходим доступ к базе, то получать данные мы будем с сервера, а значит можно сразу, все что нужно, сделать на сервере. В модуле формы, в обработчике события </a:t>
            </a:r>
            <a:r>
              <a:rPr lang="ru-RU" dirty="0" err="1"/>
              <a:t>ПриИзменении</a:t>
            </a:r>
            <a:r>
              <a:rPr lang="ru-RU" dirty="0"/>
              <a:t>() обратимся к серверной процедуре в этом же модуле.</a:t>
            </a:r>
          </a:p>
          <a:p>
            <a:pPr marL="0" indent="0">
              <a:buNone/>
            </a:pPr>
            <a:r>
              <a:rPr lang="ru-RU" dirty="0"/>
              <a:t>&amp;</a:t>
            </a:r>
            <a:r>
              <a:rPr lang="ru-RU" dirty="0" err="1"/>
              <a:t>НаКлиенте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Процедура </a:t>
            </a:r>
            <a:r>
              <a:rPr lang="ru-RU" dirty="0" err="1"/>
              <a:t>ТоварыНоменклатураПриИзменении</a:t>
            </a:r>
            <a:r>
              <a:rPr lang="ru-RU" dirty="0"/>
              <a:t>(Элемент)     </a:t>
            </a:r>
          </a:p>
          <a:p>
            <a:pPr marL="0" indent="0">
              <a:buNone/>
            </a:pPr>
            <a:r>
              <a:rPr lang="ru-RU" dirty="0" err="1"/>
              <a:t>ЗаполнитьЦенуНаСервере</a:t>
            </a:r>
            <a:r>
              <a:rPr lang="ru-RU" dirty="0"/>
              <a:t>();     </a:t>
            </a:r>
          </a:p>
          <a:p>
            <a:pPr marL="0" indent="0">
              <a:buNone/>
            </a:pPr>
            <a:r>
              <a:rPr lang="ru-RU" dirty="0" err="1"/>
              <a:t>КонецПроцедуры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268134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27993C2-6921-4246-9499-023D3BC94D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7584" y="332656"/>
            <a:ext cx="7772400" cy="57606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i="1" dirty="0"/>
              <a:t>&amp;</a:t>
            </a:r>
            <a:r>
              <a:rPr lang="ru-RU" i="1" dirty="0" err="1"/>
              <a:t>НаСервере</a:t>
            </a:r>
            <a:r>
              <a:rPr lang="ru-RU" i="1" dirty="0"/>
              <a:t> </a:t>
            </a:r>
          </a:p>
          <a:p>
            <a:pPr marL="0" indent="0">
              <a:buNone/>
            </a:pPr>
            <a:r>
              <a:rPr lang="ru-RU" i="1" dirty="0"/>
              <a:t>Процедура </a:t>
            </a:r>
            <a:r>
              <a:rPr lang="ru-RU" i="1" dirty="0" err="1"/>
              <a:t>ЗаполнитьЦенуНаСервере</a:t>
            </a:r>
            <a:r>
              <a:rPr lang="ru-RU" i="1" dirty="0"/>
              <a:t>()     </a:t>
            </a:r>
          </a:p>
          <a:p>
            <a:pPr marL="0" indent="0">
              <a:buNone/>
            </a:pPr>
            <a:r>
              <a:rPr lang="ru-RU" i="1" dirty="0" err="1"/>
              <a:t>ТекущаяСтрока</a:t>
            </a:r>
            <a:r>
              <a:rPr lang="ru-RU" i="1" dirty="0"/>
              <a:t> = </a:t>
            </a:r>
            <a:r>
              <a:rPr lang="ru-RU" i="1" dirty="0" err="1"/>
              <a:t>Элементы.Товары.ТекущаяСтрока</a:t>
            </a:r>
            <a:r>
              <a:rPr lang="ru-RU" i="1" dirty="0"/>
              <a:t>;     </a:t>
            </a:r>
          </a:p>
          <a:p>
            <a:pPr marL="0" indent="0">
              <a:buNone/>
            </a:pPr>
            <a:r>
              <a:rPr lang="ru-RU" i="1" dirty="0" err="1"/>
              <a:t>ДанныеТекСтроки</a:t>
            </a:r>
            <a:r>
              <a:rPr lang="ru-RU" i="1" dirty="0"/>
              <a:t> = </a:t>
            </a:r>
            <a:r>
              <a:rPr lang="ru-RU" i="1" dirty="0" err="1"/>
              <a:t>Объект.Товары.НайтиПоИдентификатору</a:t>
            </a:r>
            <a:r>
              <a:rPr lang="ru-RU" i="1" dirty="0"/>
              <a:t>(</a:t>
            </a:r>
            <a:r>
              <a:rPr lang="ru-RU" i="1" dirty="0" err="1"/>
              <a:t>ТекущаяСтрока</a:t>
            </a:r>
            <a:r>
              <a:rPr lang="ru-RU" i="1" dirty="0"/>
              <a:t>);         </a:t>
            </a:r>
          </a:p>
          <a:p>
            <a:pPr marL="0" indent="0">
              <a:buNone/>
            </a:pPr>
            <a:r>
              <a:rPr lang="ru-RU" i="1" dirty="0"/>
              <a:t> Отбор = Новый Структура;    </a:t>
            </a:r>
          </a:p>
          <a:p>
            <a:pPr marL="0" indent="0">
              <a:buNone/>
            </a:pPr>
            <a:r>
              <a:rPr lang="ru-RU" i="1" dirty="0"/>
              <a:t> </a:t>
            </a:r>
            <a:r>
              <a:rPr lang="ru-RU" i="1" dirty="0" err="1"/>
              <a:t>Отбор.Вставить</a:t>
            </a:r>
            <a:r>
              <a:rPr lang="ru-RU" i="1" dirty="0"/>
              <a:t>("Номенклатура",</a:t>
            </a:r>
            <a:r>
              <a:rPr lang="ru-RU" i="1" dirty="0" err="1"/>
              <a:t>ДанныеТекСтроки.Номенклатура</a:t>
            </a:r>
            <a:r>
              <a:rPr lang="ru-RU" i="1" dirty="0"/>
              <a:t>);          </a:t>
            </a:r>
          </a:p>
          <a:p>
            <a:pPr marL="0" indent="0">
              <a:buNone/>
            </a:pPr>
            <a:r>
              <a:rPr lang="ru-RU" i="1" dirty="0" err="1"/>
              <a:t>ТекЦена</a:t>
            </a:r>
            <a:r>
              <a:rPr lang="ru-RU" i="1" dirty="0"/>
              <a:t> = </a:t>
            </a:r>
            <a:r>
              <a:rPr lang="ru-RU" i="1" dirty="0" err="1"/>
              <a:t>РегистрыСведений.ЦеныНоменклатуры.ПолучитьПоследнее</a:t>
            </a:r>
            <a:r>
              <a:rPr lang="ru-RU" i="1" dirty="0"/>
              <a:t>(</a:t>
            </a:r>
            <a:r>
              <a:rPr lang="ru-RU" i="1" dirty="0" err="1"/>
              <a:t>Объект.Дата</a:t>
            </a:r>
            <a:r>
              <a:rPr lang="ru-RU" i="1" dirty="0"/>
              <a:t>, Отбор);     </a:t>
            </a:r>
          </a:p>
          <a:p>
            <a:pPr marL="0" indent="0">
              <a:buNone/>
            </a:pPr>
            <a:r>
              <a:rPr lang="ru-RU" i="1" dirty="0" err="1"/>
              <a:t>ДанныеТекСтроки.Цена</a:t>
            </a:r>
            <a:r>
              <a:rPr lang="ru-RU" i="1" dirty="0"/>
              <a:t> = </a:t>
            </a:r>
            <a:r>
              <a:rPr lang="ru-RU" i="1" dirty="0" err="1"/>
              <a:t>ТекЦена.Цена</a:t>
            </a:r>
            <a:r>
              <a:rPr lang="ru-RU" i="1" dirty="0"/>
              <a:t>; </a:t>
            </a:r>
          </a:p>
          <a:p>
            <a:pPr marL="0" indent="0">
              <a:buNone/>
            </a:pPr>
            <a:r>
              <a:rPr lang="ru-RU" i="1" dirty="0" err="1"/>
              <a:t>КонецПроцедуры</a:t>
            </a:r>
            <a:endParaRPr lang="ru-RU" i="1" dirty="0"/>
          </a:p>
          <a:p>
            <a:pPr marL="0" indent="0">
              <a:buNone/>
            </a:pPr>
            <a:r>
              <a:rPr lang="ru-RU" dirty="0"/>
              <a:t>Обратите внимание на то, что на сервере имеется доступ к элементам формы </a:t>
            </a:r>
            <a:r>
              <a:rPr lang="ru-RU" i="1" dirty="0" err="1"/>
              <a:t>Элементы.Товары.ТекущаяСтрока</a:t>
            </a:r>
            <a:r>
              <a:rPr lang="ru-RU" dirty="0"/>
              <a:t>. Благодаря использованию директивы &amp;</a:t>
            </a:r>
            <a:r>
              <a:rPr lang="ru-RU" dirty="0" err="1"/>
              <a:t>НаСервере</a:t>
            </a:r>
            <a:r>
              <a:rPr lang="ru-RU" dirty="0"/>
              <a:t> в процедуру передается весь контекст формы и мы можем обратиться к элементам формы.</a:t>
            </a:r>
          </a:p>
        </p:txBody>
      </p:sp>
    </p:spTree>
    <p:extLst>
      <p:ext uri="{BB962C8B-B14F-4D97-AF65-F5344CB8AC3E}">
        <p14:creationId xmlns:p14="http://schemas.microsoft.com/office/powerpoint/2010/main" val="428935108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CE06189-18EA-4BFD-BEA4-2B71AB135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520" y="476672"/>
            <a:ext cx="8712968" cy="612068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i="1" u="sng" dirty="0"/>
              <a:t>Второй:</a:t>
            </a:r>
            <a:r>
              <a:rPr lang="ru-RU" u="sng" dirty="0"/>
              <a:t> </a:t>
            </a:r>
            <a:r>
              <a:rPr lang="ru-RU" dirty="0"/>
              <a:t>В данном варианте мы изменим процедуру </a:t>
            </a:r>
            <a:r>
              <a:rPr lang="ru-RU" dirty="0" err="1"/>
              <a:t>ПриИзменении</a:t>
            </a:r>
            <a:r>
              <a:rPr lang="ru-RU" dirty="0"/>
              <a:t>(). Теперь будем подставлять цену не на сервере, а на клиенте. Функцию получения цены выполним, используя директиву &amp;</a:t>
            </a:r>
            <a:r>
              <a:rPr lang="ru-RU" dirty="0" err="1"/>
              <a:t>НаСервереБезКонтекста</a:t>
            </a:r>
            <a:r>
              <a:rPr lang="ru-RU" dirty="0"/>
              <a:t>. Таким образом, на сервер будут переданы всего два значения, а не весь контекст формы.</a:t>
            </a:r>
          </a:p>
          <a:p>
            <a:pPr marL="0" indent="0" algn="just">
              <a:buNone/>
            </a:pPr>
            <a:r>
              <a:rPr lang="ru-RU" i="1" dirty="0"/>
              <a:t>&amp;</a:t>
            </a:r>
            <a:r>
              <a:rPr lang="ru-RU" i="1" dirty="0" err="1"/>
              <a:t>НаКлиенте</a:t>
            </a:r>
            <a:r>
              <a:rPr lang="ru-RU" i="1" dirty="0"/>
              <a:t> </a:t>
            </a:r>
          </a:p>
          <a:p>
            <a:pPr marL="0" indent="0">
              <a:buNone/>
            </a:pPr>
            <a:r>
              <a:rPr lang="ru-RU" i="1" dirty="0"/>
              <a:t>Процедура </a:t>
            </a:r>
            <a:r>
              <a:rPr lang="ru-RU" i="1" dirty="0" err="1"/>
              <a:t>ТоварыНоменклатураПриИзменении</a:t>
            </a:r>
            <a:r>
              <a:rPr lang="ru-RU" i="1" dirty="0"/>
              <a:t>(Элемент)     </a:t>
            </a:r>
          </a:p>
          <a:p>
            <a:pPr marL="0" indent="0">
              <a:buNone/>
            </a:pPr>
            <a:r>
              <a:rPr lang="ru-RU" i="1" dirty="0" err="1"/>
              <a:t>ДанныеТекСтроки</a:t>
            </a:r>
            <a:r>
              <a:rPr lang="ru-RU" i="1" dirty="0"/>
              <a:t> = </a:t>
            </a:r>
            <a:r>
              <a:rPr lang="ru-RU" i="1" dirty="0" err="1"/>
              <a:t>Элементы.Товары.ТекущиеДанные</a:t>
            </a:r>
            <a:r>
              <a:rPr lang="ru-RU" i="1" dirty="0"/>
              <a:t>;    </a:t>
            </a:r>
          </a:p>
          <a:p>
            <a:pPr marL="0" indent="0">
              <a:buNone/>
            </a:pPr>
            <a:r>
              <a:rPr lang="ru-RU" i="1" dirty="0" err="1"/>
              <a:t>ДанныеТекСтроки.Цена</a:t>
            </a:r>
            <a:r>
              <a:rPr lang="ru-RU" i="1" dirty="0"/>
              <a:t> = </a:t>
            </a:r>
            <a:r>
              <a:rPr lang="ru-RU" i="1" dirty="0" err="1"/>
              <a:t>ЗаполнитьЦенуНаСервере</a:t>
            </a:r>
            <a:r>
              <a:rPr lang="ru-RU" i="1" dirty="0"/>
              <a:t>(</a:t>
            </a:r>
            <a:r>
              <a:rPr lang="ru-RU" i="1" dirty="0" err="1"/>
              <a:t>ДанныеТекСтроки.Номенклатура</a:t>
            </a:r>
            <a:r>
              <a:rPr lang="ru-RU" i="1" dirty="0"/>
              <a:t>, </a:t>
            </a:r>
            <a:r>
              <a:rPr lang="ru-RU" i="1" dirty="0" err="1"/>
              <a:t>Объект.Дата</a:t>
            </a:r>
            <a:r>
              <a:rPr lang="ru-RU" i="1" dirty="0"/>
              <a:t>)     </a:t>
            </a:r>
          </a:p>
          <a:p>
            <a:pPr marL="0" indent="0">
              <a:buNone/>
            </a:pPr>
            <a:r>
              <a:rPr lang="ru-RU" i="1" dirty="0" err="1"/>
              <a:t>КонецПроцедуры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51181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AE3EADC-6D53-475F-B029-3149DD4E54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836712"/>
            <a:ext cx="7772400" cy="51830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i="1" dirty="0"/>
              <a:t>&amp;</a:t>
            </a:r>
            <a:r>
              <a:rPr lang="ru-RU" i="1" dirty="0" err="1"/>
              <a:t>НаСервереБезКонтекста</a:t>
            </a:r>
            <a:r>
              <a:rPr lang="ru-RU" i="1" dirty="0"/>
              <a:t> </a:t>
            </a:r>
          </a:p>
          <a:p>
            <a:pPr marL="0" indent="0">
              <a:buNone/>
            </a:pPr>
            <a:r>
              <a:rPr lang="ru-RU" i="1" dirty="0"/>
              <a:t>Функция </a:t>
            </a:r>
            <a:r>
              <a:rPr lang="ru-RU" i="1" dirty="0" err="1"/>
              <a:t>ЗаполнитьЦенуНаСервере</a:t>
            </a:r>
            <a:r>
              <a:rPr lang="ru-RU" i="1" dirty="0"/>
              <a:t>(Номенклатура, </a:t>
            </a:r>
            <a:r>
              <a:rPr lang="ru-RU" i="1" dirty="0" err="1"/>
              <a:t>ДатаДокумента</a:t>
            </a:r>
            <a:r>
              <a:rPr lang="ru-RU" i="1" dirty="0"/>
              <a:t>)     </a:t>
            </a:r>
          </a:p>
          <a:p>
            <a:pPr marL="0" indent="0">
              <a:buNone/>
            </a:pPr>
            <a:r>
              <a:rPr lang="ru-RU" i="1" dirty="0"/>
              <a:t>Отбор = Новый Структура;     </a:t>
            </a:r>
          </a:p>
          <a:p>
            <a:pPr marL="0" indent="0">
              <a:buNone/>
            </a:pPr>
            <a:r>
              <a:rPr lang="ru-RU" i="1" dirty="0" err="1"/>
              <a:t>Отбор.Вставить</a:t>
            </a:r>
            <a:r>
              <a:rPr lang="ru-RU" i="1" dirty="0"/>
              <a:t>("Номенклатура", Номенклатура);          </a:t>
            </a:r>
          </a:p>
          <a:p>
            <a:pPr marL="0" indent="0">
              <a:buNone/>
            </a:pPr>
            <a:r>
              <a:rPr lang="ru-RU" i="1" dirty="0" err="1"/>
              <a:t>ТекЦена</a:t>
            </a:r>
            <a:r>
              <a:rPr lang="ru-RU" i="1" dirty="0"/>
              <a:t> = </a:t>
            </a:r>
            <a:r>
              <a:rPr lang="ru-RU" i="1" dirty="0" err="1"/>
              <a:t>РегистрыСведений.ЦеныНоменклатуры.ПолучитьПоследнее</a:t>
            </a:r>
            <a:r>
              <a:rPr lang="ru-RU" i="1" dirty="0"/>
              <a:t>(</a:t>
            </a:r>
            <a:r>
              <a:rPr lang="ru-RU" i="1" dirty="0" err="1"/>
              <a:t>ДатаДокумента</a:t>
            </a:r>
            <a:r>
              <a:rPr lang="ru-RU" i="1" dirty="0"/>
              <a:t>, Отбор);     </a:t>
            </a:r>
          </a:p>
          <a:p>
            <a:pPr marL="0" indent="0">
              <a:buNone/>
            </a:pPr>
            <a:r>
              <a:rPr lang="ru-RU" i="1" dirty="0"/>
              <a:t>Возврат </a:t>
            </a:r>
            <a:r>
              <a:rPr lang="ru-RU" i="1" dirty="0" err="1"/>
              <a:t>ТекЦена.Цена</a:t>
            </a:r>
            <a:r>
              <a:rPr lang="ru-RU" i="1" dirty="0"/>
              <a:t>; </a:t>
            </a:r>
          </a:p>
          <a:p>
            <a:pPr marL="0" indent="0">
              <a:buNone/>
            </a:pPr>
            <a:r>
              <a:rPr lang="ru-RU" i="1" dirty="0" err="1"/>
              <a:t>КонецФункции</a:t>
            </a:r>
            <a:endParaRPr lang="ru-RU" i="1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Во втором варианте видно, что уменьшился объем передаваемых данных и сократилось время выполнения процедур.</a:t>
            </a:r>
            <a:br>
              <a:rPr lang="ru-RU" dirty="0"/>
            </a:br>
            <a:r>
              <a:rPr lang="ru-RU" dirty="0"/>
              <a:t>Вместо передачи двух параметров в функцию, можно было упаковать их в структуру и передать в функцию, однако такая оптимизация может оказаться излишней и в итоге мы можем получить увеличение объема передаваемых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66037050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01497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Администрирование работы пользователей.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1447800"/>
            <a:ext cx="8064896" cy="5195910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dirty="0"/>
              <a:t>Для отслеживания текущего состояния работы системы используется режим ведения списка пользователей и просмотра списка активных пользователей.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Он позволяет просмотреть, кто из пользователей в настоящий момент работает с конкретной информационной базой и в каком режиме. </a:t>
            </a:r>
          </a:p>
          <a:p>
            <a:pPr marL="0" indent="442913" algn="just">
              <a:buNone/>
            </a:pPr>
            <a:endParaRPr lang="ru-RU" dirty="0"/>
          </a:p>
          <a:p>
            <a:pPr marL="0" indent="442913" algn="just">
              <a:buNone/>
            </a:pPr>
            <a:r>
              <a:rPr lang="ru-RU" dirty="0"/>
              <a:t>Для учета и просмотра действий пользователей используется журнал регистрации, в котором записываются различные события, связанные как с работой пользователя, так и поведение системы.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883352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2204864"/>
            <a:ext cx="6840760" cy="1719064"/>
          </a:xfrm>
        </p:spPr>
        <p:txBody>
          <a:bodyPr>
            <a:noAutofit/>
          </a:bodyPr>
          <a:lstStyle/>
          <a:p>
            <a:pPr algn="ctr"/>
            <a:r>
              <a:rPr lang="ru-RU" sz="5400" dirty="0"/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21166861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5336</TotalTime>
  <Words>7292</Words>
  <Application>Microsoft Office PowerPoint</Application>
  <PresentationFormat>Экран (4:3)</PresentationFormat>
  <Paragraphs>777</Paragraphs>
  <Slides>142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142</vt:i4>
      </vt:variant>
    </vt:vector>
  </HeadingPairs>
  <TitlesOfParts>
    <vt:vector size="153" baseType="lpstr">
      <vt:lpstr>Arial</vt:lpstr>
      <vt:lpstr>Calibri</vt:lpstr>
      <vt:lpstr>Cambria</vt:lpstr>
      <vt:lpstr>Century Schoolbook</vt:lpstr>
      <vt:lpstr>Courier New</vt:lpstr>
      <vt:lpstr>Franklin Gothic Book</vt:lpstr>
      <vt:lpstr>Perpetua</vt:lpstr>
      <vt:lpstr>Times New Roman</vt:lpstr>
      <vt:lpstr>Wingdings</vt:lpstr>
      <vt:lpstr>Wingdings 2</vt:lpstr>
      <vt:lpstr>Справедливость</vt:lpstr>
      <vt:lpstr>Система 1С:Предприятие</vt:lpstr>
      <vt:lpstr>Немного истории…</vt:lpstr>
      <vt:lpstr>Наиболее популярные  типовые конфигурации</vt:lpstr>
      <vt:lpstr> 1. Общая информация о системе «1С:Предприятие 8.3»</vt:lpstr>
      <vt:lpstr>Существует одна платформа (1С:Предприятие) и множество конфигураций.  Для функционирования какого-либо прикладного решения всегда необходима платформа и какая-либо (одна) конфигурация.</vt:lpstr>
      <vt:lpstr>Двойственность терминологии</vt:lpstr>
      <vt:lpstr>Режимы работы системы </vt:lpstr>
      <vt:lpstr>2. Информационная база системы</vt:lpstr>
      <vt:lpstr>Презентация PowerPoint</vt:lpstr>
      <vt:lpstr>3. Объекты </vt:lpstr>
      <vt:lpstr>Презентация PowerPoint</vt:lpstr>
      <vt:lpstr>Презентация PowerPoint</vt:lpstr>
      <vt:lpstr>Презентация PowerPoint</vt:lpstr>
      <vt:lpstr>Объект конфигурации, объект базы данных, объекты встроенного языка</vt:lpstr>
      <vt:lpstr>Понятие «конфигурация»</vt:lpstr>
      <vt:lpstr>Объекты конфигурации (метаданные)</vt:lpstr>
      <vt:lpstr>Презентация PowerPoint</vt:lpstr>
      <vt:lpstr>Свойства объекта конфигурации </vt:lpstr>
      <vt:lpstr>Основные виды объектов конфигурации</vt:lpstr>
      <vt:lpstr>Справочники</vt:lpstr>
      <vt:lpstr>Презентация PowerPoint</vt:lpstr>
      <vt:lpstr>Задача</vt:lpstr>
      <vt:lpstr>Документы</vt:lpstr>
      <vt:lpstr>Презентация PowerPoint</vt:lpstr>
      <vt:lpstr>Презентация PowerPoint</vt:lpstr>
      <vt:lpstr>Константы</vt:lpstr>
      <vt:lpstr>Перечисления</vt:lpstr>
      <vt:lpstr>Журналы документов</vt:lpstr>
      <vt:lpstr>Отчеты и обработки</vt:lpstr>
      <vt:lpstr>Планы видов характеристик</vt:lpstr>
      <vt:lpstr>Планы счетов</vt:lpstr>
      <vt:lpstr>Бизнес-процессы и задачи</vt:lpstr>
      <vt:lpstr>Регистры</vt:lpstr>
      <vt:lpstr>Подчиненные группы объектов</vt:lpstr>
      <vt:lpstr>Презентация PowerPoint</vt:lpstr>
      <vt:lpstr>Презентация PowerPoint</vt:lpstr>
      <vt:lpstr>Типизированные и типообразующие объекты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Форма</vt:lpstr>
      <vt:lpstr>Модуль </vt:lpstr>
      <vt:lpstr>Презентация PowerPoint</vt:lpstr>
      <vt:lpstr>Назначение модуля объекта</vt:lpstr>
      <vt:lpstr>Макет</vt:lpstr>
      <vt:lpstr>Презентация PowerPoint</vt:lpstr>
      <vt:lpstr>Презентация PowerPoint</vt:lpstr>
      <vt:lpstr>Презентация PowerPoint</vt:lpstr>
      <vt:lpstr>Макеты могут быть следующего типа </vt:lpstr>
      <vt:lpstr>Презентация PowerPoint</vt:lpstr>
      <vt:lpstr>Презентация PowerPoint</vt:lpstr>
      <vt:lpstr>Презентация PowerPoint</vt:lpstr>
      <vt:lpstr>4. Описание встроенного языка 1С </vt:lpstr>
      <vt:lpstr>Назначение и краткая характеристика встроенного языка</vt:lpstr>
      <vt:lpstr>Презентация PowerPoint</vt:lpstr>
      <vt:lpstr>Формат исходных текстов программных модулей</vt:lpstr>
      <vt:lpstr>Контекст выполнения программного модуля</vt:lpstr>
      <vt:lpstr>Глобальный контекст образуется: </vt:lpstr>
      <vt:lpstr>Локальный контекст модуля </vt:lpstr>
      <vt:lpstr>Виды программных модулей </vt:lpstr>
      <vt:lpstr>Общие модули</vt:lpstr>
      <vt:lpstr>Глобальный модуль </vt:lpstr>
      <vt:lpstr>Презентация PowerPoint</vt:lpstr>
      <vt:lpstr>Модули прикладных объектов </vt:lpstr>
      <vt:lpstr>Модули форм </vt:lpstr>
      <vt:lpstr>Формат программного модуля</vt:lpstr>
      <vt:lpstr>Комментарии</vt:lpstr>
      <vt:lpstr>Формат операторов</vt:lpstr>
      <vt:lpstr>Презентация PowerPoint</vt:lpstr>
      <vt:lpstr>Имена переменных, процедур и функций</vt:lpstr>
      <vt:lpstr>Презентация PowerPoint</vt:lpstr>
      <vt:lpstr>Структура программного модуля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Специальные символы, используемые в исходном тексте</vt:lpstr>
      <vt:lpstr>Специальные символы, используемые в исходном тексте</vt:lpstr>
      <vt:lpstr>Презентация PowerPoint</vt:lpstr>
      <vt:lpstr>Примитивные типы данных</vt:lpstr>
      <vt:lpstr>Примечание:</vt:lpstr>
      <vt:lpstr>3. Дата (Date)</vt:lpstr>
      <vt:lpstr>4. Неопределено (Undefined)</vt:lpstr>
      <vt:lpstr>5. Строка (String)</vt:lpstr>
      <vt:lpstr>Пример</vt:lpstr>
      <vt:lpstr>6. Число (Number)</vt:lpstr>
      <vt:lpstr>Оператор присваивания</vt:lpstr>
      <vt:lpstr>Пример: </vt:lpstr>
      <vt:lpstr>Выражения языка</vt:lpstr>
      <vt:lpstr>Арифметические операции</vt:lpstr>
      <vt:lpstr>Презентация PowerPoint</vt:lpstr>
      <vt:lpstr>Операция конкатенации </vt:lpstr>
      <vt:lpstr>Логические операции</vt:lpstr>
      <vt:lpstr>Операции сравнения: </vt:lpstr>
      <vt:lpstr>Операции сравнения определены для следующих типов операндов:</vt:lpstr>
      <vt:lpstr>Булевы операции:</vt:lpstr>
      <vt:lpstr>Уровни старшинства логических операций:</vt:lpstr>
      <vt:lpstr>Операторы и синтаксические конструкции</vt:lpstr>
      <vt:lpstr>Пример: </vt:lpstr>
      <vt:lpstr>Выполнить (Execute) </vt:lpstr>
      <vt:lpstr>Презентация PowerPoint</vt:lpstr>
      <vt:lpstr>Для (For)</vt:lpstr>
      <vt:lpstr>Параметры:</vt:lpstr>
      <vt:lpstr>Презентация PowerPoint</vt:lpstr>
      <vt:lpstr>Презентация PowerPoint</vt:lpstr>
      <vt:lpstr>Пример: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Директивы компиляции</vt:lpstr>
      <vt:lpstr>&amp;НаКлиенте</vt:lpstr>
      <vt:lpstr>&amp;НаСервере</vt:lpstr>
      <vt:lpstr>&amp;НаСервереБезКонтекста</vt:lpstr>
      <vt:lpstr>&amp;НаКлиентеНаСервереБезКонтекста</vt:lpstr>
      <vt:lpstr>&amp;НаКлиентеНаСервере</vt:lpstr>
      <vt:lpstr>Инструкции препроцессора</vt:lpstr>
      <vt:lpstr>Контекстные и внеконтекстные вызовы</vt:lpstr>
      <vt:lpstr>Контекстный вызов</vt:lpstr>
      <vt:lpstr>Презентация PowerPoint</vt:lpstr>
      <vt:lpstr>Презентация PowerPoint</vt:lpstr>
      <vt:lpstr>Выбор контекста для общих модулей</vt:lpstr>
      <vt:lpstr>Презентация PowerPoint</vt:lpstr>
      <vt:lpstr>Презентация PowerPoint</vt:lpstr>
      <vt:lpstr>Презентация PowerPoint</vt:lpstr>
      <vt:lpstr>Оптимизация клиент-серверного взаимодействия в управляемых формах</vt:lpstr>
      <vt:lpstr>Объединение нескольких вызовов сервера в один</vt:lpstr>
      <vt:lpstr>Презентация PowerPoint</vt:lpstr>
      <vt:lpstr>Презентация PowerPoint</vt:lpstr>
      <vt:lpstr>Презентация PowerPoint</vt:lpstr>
      <vt:lpstr>Использование внеконтекстных процедур или функций</vt:lpstr>
      <vt:lpstr>Презентация PowerPoint</vt:lpstr>
      <vt:lpstr>Презентация PowerPoint</vt:lpstr>
      <vt:lpstr>Презентация PowerPoint</vt:lpstr>
      <vt:lpstr>Презентация PowerPoint</vt:lpstr>
      <vt:lpstr>Администрирование работы пользователей. </vt:lpstr>
      <vt:lpstr>Спасибо за внимание!!!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1</dc:creator>
  <cp:lastModifiedBy>Екатерина Казаковцева</cp:lastModifiedBy>
  <cp:revision>341</cp:revision>
  <dcterms:created xsi:type="dcterms:W3CDTF">2009-09-09T15:38:56Z</dcterms:created>
  <dcterms:modified xsi:type="dcterms:W3CDTF">2025-10-02T19:50:15Z</dcterms:modified>
</cp:coreProperties>
</file>